
<file path=[Content_Types].xml><?xml version="1.0" encoding="utf-8"?>
<Types xmlns="http://schemas.openxmlformats.org/package/2006/content-types">
  <Default Extension="jfif" ContentType="image/jpeg"/>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26" r:id="rId2"/>
    <p:sldMasterId id="2147483744" r:id="rId3"/>
  </p:sldMasterIdLst>
  <p:sldIdLst>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57" r:id="rId18"/>
    <p:sldId id="262" r:id="rId19"/>
    <p:sldId id="258" r:id="rId20"/>
    <p:sldId id="267" r:id="rId21"/>
    <p:sldId id="259" r:id="rId22"/>
    <p:sldId id="264" r:id="rId23"/>
    <p:sldId id="260" r:id="rId24"/>
    <p:sldId id="265" r:id="rId25"/>
    <p:sldId id="261" r:id="rId26"/>
    <p:sldId id="26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0105A-C367-4885-B62E-0FF3B1FB8D78}" v="174" dt="2026-02-15T05:06:40.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pPr defTabSz="685800"/>
            <a:endParaRPr lang="en-US">
              <a:solidFill>
                <a:prstClr val="black">
                  <a:tint val="75000"/>
                </a:prstClr>
              </a:solidFill>
            </a:endParaRPr>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541161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3823908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697132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868931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85800"/>
            <a:endParaRPr lang="en-US">
              <a:solidFill>
                <a:prstClr val="black">
                  <a:tint val="75000"/>
                </a:prstClr>
              </a:solidFill>
            </a:endParaRPr>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354475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85800"/>
            <a:endParaRPr lang="en-US">
              <a:solidFill>
                <a:prstClr val="black">
                  <a:tint val="75000"/>
                </a:prstClr>
              </a:solidFill>
            </a:endParaRPr>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34306425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85800"/>
            <a:endParaRPr lang="en-US">
              <a:solidFill>
                <a:prstClr val="black">
                  <a:tint val="75000"/>
                </a:prstClr>
              </a:solidFill>
            </a:endParaRPr>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39985004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4212972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790794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4154736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7777413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712177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7123283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868076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7692404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a:xfrm>
            <a:off x="516133" y="6387910"/>
            <a:ext cx="3859795" cy="228660"/>
          </a:xfrm>
        </p:spPr>
        <p:txBody>
          <a:bodyPr/>
          <a:lstStyle/>
          <a:p>
            <a:pPr defTabSz="685800"/>
            <a:endParaRPr lang="en-US">
              <a:solidFill>
                <a:prstClr val="black">
                  <a:tint val="75000"/>
                </a:prstClr>
              </a:solidFill>
            </a:endParaRPr>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41108051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defTabSz="685800"/>
            <a:fld id="{CDC669D2-16DC-4808-AF1C-40A04665CC1A}"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p:cNvSpPr>
            <a:spLocks noGrp="1"/>
          </p:cNvSpPr>
          <p:nvPr>
            <p:ph type="ftr" sz="quarter" idx="11"/>
          </p:nvPr>
        </p:nvSpPr>
        <p:spPr>
          <a:xfrm>
            <a:off x="538546" y="6365498"/>
            <a:ext cx="3859795" cy="228660"/>
          </a:xfrm>
        </p:spPr>
        <p:txBody>
          <a:bodyPr/>
          <a:lstStyle/>
          <a:p>
            <a:pPr defTabSz="685800"/>
            <a:endParaRPr lang="en-US">
              <a:solidFill>
                <a:prstClr val="black">
                  <a:tint val="75000"/>
                </a:prstClr>
              </a:solidFill>
            </a:endParaRPr>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defTabSz="685800"/>
            <a:fld id="{14300EC2-5807-4B40-8F41-1FE2A28A9DA1}"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1707307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D1F9D-2938-EF73-F9D9-0AC18625A8B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74938FA-45A0-778C-CBA1-474E4A06054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FF4752D-4D7B-F562-A60D-CF69526DD6BE}"/>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7C12D17F-79D4-7B4B-CD2D-3F3FE053E4AA}"/>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0F6C1A9-598B-7ACC-6242-353FDBF94E5E}"/>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14229891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9B3E5-439C-85BB-4BB8-656155E0AF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C92383-A92B-01C9-5F9E-28CC3D9961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4A4BB-1712-FD99-0FDD-02D9D7E01174}"/>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EDF6D82-A334-120E-6D72-497F09248D45}"/>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5EF4E5F-83F6-29AD-979F-C4E1DD0F424A}"/>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202460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B5E6-FCAE-1787-16BC-740A99EBD98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782906A-E411-67AC-82E3-3D7FA77E137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29BF9A-FBE9-A32A-0B4E-4BFD1E9027DD}"/>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2568558C-A8DD-3062-C6C4-7131565BE4C8}"/>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E92DAC1-B0BB-2199-79C1-5EF37A933F11}"/>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3427740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A5BD8-D02F-181A-CEB3-F1C23E1EC1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E52EA2-2B5F-4946-63A3-ACA7F36ACE9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FBD206-75B6-22F3-91CF-C7E3A177B0B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7CCE70-F01E-5AC6-EAEB-C7F200680A91}"/>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E17B54D0-C1B4-801C-1222-1376118A8FD2}"/>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271D3E2B-B53F-B340-9C78-2CB80FB61CF0}"/>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13534257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35B3-AB9C-70C2-D19A-748F8F16EB6F}"/>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75CC77-DD7E-E8DC-D4E5-CF557FA4FEF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5C8F4C8-997D-2AFA-BA14-459C667E63B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45B47A-B2C6-3D49-1FE0-2958EF55FB1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7EDCA07-66A8-9251-5FE9-30D23855E97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C6C0EE-CFB2-C924-6AF8-C278516DE4D1}"/>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C12AF3D5-1319-AF20-4992-3F1A40481B13}"/>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B32AEFC7-2D43-5F1B-A45E-94D24F4B3219}"/>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5346527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E5BE-4F42-ACA5-13D0-9EECBC897F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8EC494-A0DD-C809-71EC-143383DDF38D}"/>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AF79A499-5B88-554A-0A15-C477D2AE61CD}"/>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B1DA9812-D9C3-D1CC-EFEA-B3720A3CC1D5}"/>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218612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6A8CE-614F-6D29-5177-C91291A6903B}"/>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4F67F7C7-8655-E836-CF78-76FFB60D8B5F}"/>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8B9A1BD8-3539-2DE1-4002-D7DEE3EEC604}"/>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42202388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51C5-E963-81DA-2835-B5AC55BAB63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9D2A794-2DD4-DF1A-F8D5-915F7E71D32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0258BC-2034-F394-C059-1C5334DA41A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E6F4D38-AF64-964D-B610-593026B470D7}"/>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11F5F5F0-E531-3D91-95EA-F9A0DADC5728}"/>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3015921D-2E29-FDAC-07BA-20209AF68BC2}"/>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956251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F76A3-EDDA-8419-87DC-83E41EE5B92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4AECF47-51A6-D595-E618-D55C5392D33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092827A5-F83B-197A-2E82-E7D9E6BA098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2392BBB-E077-447D-E600-3376ABA5C3A6}"/>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F48D310-9C18-26BA-CC65-6497DECCC041}"/>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BB647685-5C9B-1C70-B29D-DEA9FD2FB63F}"/>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8613065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25A7-7E11-9C34-5DFA-914F470754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CF1499-22F6-FBDA-46AA-4E5528B447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E0DD0-E7E1-B06F-4A0A-7C89ACE17A37}"/>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DD00D43-BA7B-CB38-FB57-3F5AD6BA1742}"/>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8CFB6A4-22ED-F208-6653-F4B3FAA8B7EE}"/>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41755612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598256-C5E6-2818-66B9-5406A7BD568D}"/>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D63AF5-F934-E830-1158-CAABC1313EF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A9F0B-6E6C-8A0A-9FD0-721DE4F2B3E4}"/>
              </a:ext>
            </a:extLst>
          </p:cNvPr>
          <p:cNvSpPr>
            <a:spLocks noGrp="1"/>
          </p:cNvSpPr>
          <p:nvPr>
            <p:ph type="dt" sz="half" idx="10"/>
          </p:nvPr>
        </p:nvSpPr>
        <p:spPr/>
        <p:txBody>
          <a:body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75BC1BA1-4855-FB98-A331-5A23EB1620F3}"/>
              </a:ext>
            </a:extLst>
          </p:cNvPr>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D080EAFC-B2E4-DAEF-9B51-4B725638AE43}"/>
              </a:ext>
            </a:extLst>
          </p:cNvPr>
          <p:cNvSpPr>
            <a:spLocks noGrp="1"/>
          </p:cNvSpPr>
          <p:nvPr>
            <p:ph type="sldNum" sz="quarter" idx="12"/>
          </p:nvPr>
        </p:nvSpPr>
        <p:spPr/>
        <p:txBody>
          <a:body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768374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2/15/2026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69943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84A10-2051-A666-2ED2-C50B1F57441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375361-A0B7-CBFC-19A5-A5FD3B36CAE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BDD63-73A3-AA0F-1103-B0D427A07D0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3B5ED8B1-0F2B-41DC-96C9-0F11BA3A50B1}" type="datetimeFigureOut">
              <a:rPr lang="en-US" smtClean="0">
                <a:solidFill>
                  <a:prstClr val="black">
                    <a:tint val="75000"/>
                  </a:prstClr>
                </a:solidFill>
              </a:rPr>
              <a:pPr defTabSz="685800"/>
              <a:t>2/15/2026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501DAFC-2C2D-2DC2-51A4-F529853E87F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FA2784CE-DF49-3819-2629-3F0CF24ED88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478326FA-A02C-4242-BBD6-DD541A5604C7}" type="slidenum">
              <a:rPr lang="en-US" smtClean="0">
                <a:solidFill>
                  <a:prstClr val="black">
                    <a:tint val="75000"/>
                  </a:prstClr>
                </a:solidFill>
              </a:rPr>
              <a:pPr defTabSz="685800"/>
              <a:t>‹#›</a:t>
            </a:fld>
            <a:endParaRPr lang="en-US">
              <a:solidFill>
                <a:prstClr val="black">
                  <a:tint val="75000"/>
                </a:prstClr>
              </a:solidFill>
            </a:endParaRPr>
          </a:p>
        </p:txBody>
      </p:sp>
    </p:spTree>
    <p:extLst>
      <p:ext uri="{BB962C8B-B14F-4D97-AF65-F5344CB8AC3E}">
        <p14:creationId xmlns:p14="http://schemas.microsoft.com/office/powerpoint/2010/main" val="75953949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fif"/><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jfif"/><Relationship Id="rId2" Type="http://schemas.openxmlformats.org/officeDocument/2006/relationships/image" Target="../media/image8.jfif"/><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5EB7D2A2-F448-44D4-938C-DC84CBCB3B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871AEA07-1E14-44B4-8E55-64EF049CD6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1143000" y="1293338"/>
            <a:ext cx="6858000" cy="3274592"/>
          </a:xfrm>
        </p:spPr>
        <p:txBody>
          <a:bodyPr vert="horz" lIns="91440" tIns="45720" rIns="91440" bIns="45720" rtlCol="0" anchor="ctr">
            <a:normAutofit/>
          </a:bodyPr>
          <a:lstStyle/>
          <a:p>
            <a:pPr defTabSz="914400">
              <a:lnSpc>
                <a:spcPct val="90000"/>
              </a:lnSpc>
            </a:pPr>
            <a:r>
              <a:rPr lang="en-US" sz="6300" kern="1200" dirty="0">
                <a:solidFill>
                  <a:schemeClr val="tx1"/>
                </a:solidFill>
                <a:latin typeface="+mj-lt"/>
                <a:ea typeface="+mj-ea"/>
                <a:cs typeface="+mj-cs"/>
              </a:rPr>
              <a:t> </a:t>
            </a:r>
            <a:r>
              <a:rPr lang="en-US" sz="6300" kern="1200" dirty="0" smtClean="0">
                <a:solidFill>
                  <a:schemeClr val="tx1"/>
                </a:solidFill>
                <a:latin typeface="+mj-lt"/>
                <a:ea typeface="+mj-ea"/>
                <a:cs typeface="+mj-cs"/>
              </a:rPr>
              <a:t>Strange Wedding Traditions</a:t>
            </a:r>
            <a:endParaRPr lang="en-US" sz="6300" kern="1200" dirty="0">
              <a:solidFill>
                <a:schemeClr val="tx1"/>
              </a:solidFill>
              <a:latin typeface="+mj-lt"/>
              <a:ea typeface="+mj-ea"/>
              <a:cs typeface="+mj-cs"/>
            </a:endParaRPr>
          </a:p>
        </p:txBody>
      </p:sp>
      <p:sp>
        <p:nvSpPr>
          <p:cNvPr id="3" name="Content Placeholder 2"/>
          <p:cNvSpPr>
            <a:spLocks noGrp="1"/>
          </p:cNvSpPr>
          <p:nvPr>
            <p:ph idx="1"/>
          </p:nvPr>
        </p:nvSpPr>
        <p:spPr>
          <a:xfrm>
            <a:off x="209939" y="4921969"/>
            <a:ext cx="6858000" cy="1426011"/>
          </a:xfrm>
        </p:spPr>
        <p:txBody>
          <a:bodyPr vert="horz" lIns="91440" tIns="45720" rIns="91440" bIns="45720" rtlCol="0" anchor="ctr">
            <a:noAutofit/>
          </a:bodyPr>
          <a:lstStyle/>
          <a:p>
            <a:pPr marL="0" indent="0" defTabSz="914400">
              <a:lnSpc>
                <a:spcPct val="90000"/>
              </a:lnSpc>
              <a:spcBef>
                <a:spcPts val="1000"/>
              </a:spcBef>
              <a:buNone/>
            </a:pPr>
            <a:r>
              <a:rPr lang="en-US" sz="2400" b="1" kern="1200" dirty="0" smtClean="0">
                <a:solidFill>
                  <a:schemeClr val="tx1"/>
                </a:solidFill>
              </a:rPr>
              <a:t>Team 6</a:t>
            </a:r>
            <a:br>
              <a:rPr lang="en-US" sz="2400" b="1" kern="1200" dirty="0" smtClean="0">
                <a:solidFill>
                  <a:schemeClr val="tx1"/>
                </a:solidFill>
              </a:rPr>
            </a:br>
            <a:r>
              <a:rPr lang="en-US" sz="2400" b="1" kern="1200" dirty="0" err="1" smtClean="0">
                <a:solidFill>
                  <a:schemeClr val="tx1"/>
                </a:solidFill>
              </a:rPr>
              <a:t>Salwa</a:t>
            </a:r>
            <a:r>
              <a:rPr lang="en-US" sz="2400" b="1" kern="1200" dirty="0" smtClean="0">
                <a:solidFill>
                  <a:schemeClr val="tx1"/>
                </a:solidFill>
              </a:rPr>
              <a:t> Saye</a:t>
            </a:r>
            <a:r>
              <a:rPr lang="en-US" sz="2400" b="1" dirty="0" smtClean="0"/>
              <a:t>d </a:t>
            </a:r>
            <a:br>
              <a:rPr lang="en-US" sz="2400" b="1" dirty="0" smtClean="0"/>
            </a:br>
            <a:r>
              <a:rPr lang="en-US" sz="2400" b="1" dirty="0" smtClean="0"/>
              <a:t>Mohamed Saied </a:t>
            </a:r>
            <a:br>
              <a:rPr lang="en-US" sz="2400" b="1" dirty="0" smtClean="0"/>
            </a:br>
            <a:r>
              <a:rPr lang="en-US" sz="2400" b="1" dirty="0" err="1" smtClean="0"/>
              <a:t>Amany</a:t>
            </a:r>
            <a:r>
              <a:rPr lang="en-US" sz="2400" b="1" dirty="0" smtClean="0"/>
              <a:t> </a:t>
            </a:r>
            <a:r>
              <a:rPr lang="en-US" sz="2400" b="1" dirty="0" err="1" smtClean="0"/>
              <a:t>Hesham</a:t>
            </a:r>
            <a:endParaRPr lang="en-US" sz="2400" b="1" kern="1200" dirty="0">
              <a:solidFill>
                <a:schemeClr val="tx1"/>
              </a:solidFill>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7911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قهوة العريس المالحة! من العادات التركية..... عادة “قهوة العريس المالحة” هي  واحدة من تلك العادات العجيبة في الثقافة التركية، والتي ما زالت مستمرّة إلى  يومنا هذا. تقوم هذه العادة على أن تُقدَّم"/>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756" y="983213"/>
            <a:ext cx="3540967" cy="473062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a:xfrm>
            <a:off x="5425751" y="2364145"/>
            <a:ext cx="2855168" cy="179147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defTabSz="685800"/>
            <a:r>
              <a:rPr lang="en-US" sz="3300" b="1" dirty="0">
                <a:solidFill>
                  <a:prstClr val="white"/>
                </a:solidFill>
                <a:effectLst>
                  <a:outerShdw blurRad="38100" dist="38100" dir="2700000" algn="tl">
                    <a:srgbClr val="000000">
                      <a:alpha val="43137"/>
                    </a:srgbClr>
                  </a:outerShdw>
                </a:effectLst>
                <a:latin typeface="Calibri" panose="020F0502020204030204"/>
              </a:rPr>
              <a:t>Coffee with Salt </a:t>
            </a:r>
          </a:p>
        </p:txBody>
      </p:sp>
    </p:spTree>
    <p:extLst>
      <p:ext uri="{BB962C8B-B14F-4D97-AF65-F5344CB8AC3E}">
        <p14:creationId xmlns:p14="http://schemas.microsoft.com/office/powerpoint/2010/main" val="45354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673" y="4560633"/>
            <a:ext cx="3452327" cy="2297367"/>
          </a:xfrm>
          <a:prstGeom prst="rect">
            <a:avLst/>
          </a:prstGeom>
        </p:spPr>
      </p:pic>
      <p:sp>
        <p:nvSpPr>
          <p:cNvPr id="3" name="Rectangle 2"/>
          <p:cNvSpPr/>
          <p:nvPr/>
        </p:nvSpPr>
        <p:spPr>
          <a:xfrm>
            <a:off x="202938" y="2382526"/>
            <a:ext cx="8730029" cy="1938992"/>
          </a:xfrm>
          <a:prstGeom prst="rect">
            <a:avLst/>
          </a:prstGeom>
        </p:spPr>
        <p:txBody>
          <a:bodyPr wrap="square">
            <a:spAutoFit/>
          </a:bodyPr>
          <a:lstStyle/>
          <a:p>
            <a:pPr marL="342900" indent="-342900" defTabSz="685800">
              <a:buFont typeface="Arial" panose="020B0604020202020204" pitchFamily="34" charset="0"/>
              <a:buChar char="•"/>
            </a:pPr>
            <a:r>
              <a:rPr lang="en-GB" sz="2000" dirty="0" smtClean="0">
                <a:solidFill>
                  <a:prstClr val="black"/>
                </a:solidFill>
                <a:latin typeface="Calibri" panose="020F0502020204030204"/>
              </a:rPr>
              <a:t>It is </a:t>
            </a:r>
            <a:r>
              <a:rPr lang="en-GB" sz="2000" dirty="0">
                <a:solidFill>
                  <a:prstClr val="black"/>
                </a:solidFill>
                <a:latin typeface="Calibri" panose="020F0502020204030204"/>
              </a:rPr>
              <a:t>a traditional pre-wedding custom that takes place one or two days before the wedding ceremony.</a:t>
            </a:r>
          </a:p>
          <a:p>
            <a:pPr marL="342900" indent="-342900" defTabSz="685800">
              <a:buFont typeface="Arial" panose="020B0604020202020204" pitchFamily="34" charset="0"/>
              <a:buChar char="•"/>
            </a:pPr>
            <a:r>
              <a:rPr lang="en-GB" sz="2000" dirty="0" smtClean="0">
                <a:solidFill>
                  <a:prstClr val="black"/>
                </a:solidFill>
                <a:latin typeface="Calibri" panose="020F0502020204030204"/>
              </a:rPr>
              <a:t>Guests break </a:t>
            </a:r>
            <a:r>
              <a:rPr lang="en-GB" sz="2000" dirty="0">
                <a:solidFill>
                  <a:prstClr val="black"/>
                </a:solidFill>
                <a:latin typeface="Calibri" panose="020F0502020204030204"/>
              </a:rPr>
              <a:t>porcelain dishes (not glass). This act is believed to bring good luck to the bride and groom.</a:t>
            </a:r>
          </a:p>
          <a:p>
            <a:pPr marL="342900" indent="-342900" defTabSz="685800">
              <a:buFont typeface="Arial" panose="020B0604020202020204" pitchFamily="34" charset="0"/>
              <a:buChar char="•"/>
            </a:pPr>
            <a:r>
              <a:rPr lang="en-GB" sz="2000" dirty="0" smtClean="0">
                <a:solidFill>
                  <a:prstClr val="black"/>
                </a:solidFill>
                <a:latin typeface="Calibri" panose="020F0502020204030204"/>
              </a:rPr>
              <a:t>They must </a:t>
            </a:r>
            <a:r>
              <a:rPr lang="en-GB" sz="2000" dirty="0">
                <a:solidFill>
                  <a:prstClr val="black"/>
                </a:solidFill>
                <a:latin typeface="Calibri" panose="020F0502020204030204"/>
              </a:rPr>
              <a:t>clean up the broken pieces </a:t>
            </a:r>
            <a:r>
              <a:rPr lang="en-GB" sz="2000" dirty="0" smtClean="0">
                <a:solidFill>
                  <a:prstClr val="black"/>
                </a:solidFill>
                <a:latin typeface="Calibri" panose="020F0502020204030204"/>
              </a:rPr>
              <a:t>together </a:t>
            </a:r>
            <a:r>
              <a:rPr lang="en-GB" sz="2000" dirty="0" smtClean="0">
                <a:solidFill>
                  <a:prstClr val="black"/>
                </a:solidFill>
                <a:latin typeface="Calibri" panose="020F0502020204030204"/>
                <a:sym typeface="Wingdings" panose="05000000000000000000" pitchFamily="2" charset="2"/>
              </a:rPr>
              <a:t> </a:t>
            </a:r>
            <a:r>
              <a:rPr lang="en-GB" sz="2000" dirty="0" smtClean="0">
                <a:solidFill>
                  <a:prstClr val="black"/>
                </a:solidFill>
                <a:latin typeface="Calibri" panose="020F0502020204030204"/>
              </a:rPr>
              <a:t>they </a:t>
            </a:r>
            <a:r>
              <a:rPr lang="en-GB" sz="2000" dirty="0">
                <a:solidFill>
                  <a:prstClr val="black"/>
                </a:solidFill>
                <a:latin typeface="Calibri" panose="020F0502020204030204"/>
              </a:rPr>
              <a:t>will be able to overcome any challenges they face in married life.</a:t>
            </a:r>
            <a:endParaRPr lang="en-GB" sz="1600" dirty="0">
              <a:solidFill>
                <a:prstClr val="black"/>
              </a:solidFill>
              <a:latin typeface="Calibri" panose="020F0502020204030204"/>
            </a:endParaRPr>
          </a:p>
        </p:txBody>
      </p:sp>
      <p:sp>
        <p:nvSpPr>
          <p:cNvPr id="2" name="Rectangle 1"/>
          <p:cNvSpPr/>
          <p:nvPr/>
        </p:nvSpPr>
        <p:spPr>
          <a:xfrm>
            <a:off x="838165" y="846853"/>
            <a:ext cx="2859885" cy="707886"/>
          </a:xfrm>
          <a:prstGeom prst="rect">
            <a:avLst/>
          </a:prstGeom>
        </p:spPr>
        <p:txBody>
          <a:bodyPr wrap="none">
            <a:spAutoFit/>
          </a:bodyPr>
          <a:lstStyle/>
          <a:p>
            <a:r>
              <a:rPr lang="en-GB" sz="4000" b="1" dirty="0">
                <a:solidFill>
                  <a:schemeClr val="bg1"/>
                </a:solidFill>
                <a:effectLst>
                  <a:outerShdw blurRad="38100" dist="38100" dir="2700000" algn="tl">
                    <a:srgbClr val="000000">
                      <a:alpha val="43137"/>
                    </a:srgbClr>
                  </a:outerShdw>
                </a:effectLst>
                <a:latin typeface="Calibri" panose="020F0502020204030204"/>
              </a:rPr>
              <a:t>Polterabend</a:t>
            </a:r>
            <a:r>
              <a:rPr lang="en-GB" sz="2800" dirty="0">
                <a:solidFill>
                  <a:schemeClr val="bg1"/>
                </a:solidFill>
                <a:latin typeface="Calibri" panose="020F0502020204030204"/>
              </a:rPr>
              <a:t> </a:t>
            </a:r>
            <a:endParaRPr lang="en-US" sz="3200" dirty="0">
              <a:solidFill>
                <a:schemeClr val="bg1"/>
              </a:solidFill>
            </a:endParaRPr>
          </a:p>
        </p:txBody>
      </p:sp>
    </p:spTree>
    <p:extLst>
      <p:ext uri="{BB962C8B-B14F-4D97-AF65-F5344CB8AC3E}">
        <p14:creationId xmlns:p14="http://schemas.microsoft.com/office/powerpoint/2010/main" val="289065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3938" y="4459048"/>
            <a:ext cx="2800887" cy="215537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42" y="4917682"/>
            <a:ext cx="3089356" cy="1696736"/>
          </a:xfrm>
          <a:prstGeom prst="rect">
            <a:avLst/>
          </a:prstGeom>
        </p:spPr>
      </p:pic>
      <p:sp>
        <p:nvSpPr>
          <p:cNvPr id="4" name="Rectangle 3"/>
          <p:cNvSpPr/>
          <p:nvPr/>
        </p:nvSpPr>
        <p:spPr>
          <a:xfrm>
            <a:off x="396687" y="901934"/>
            <a:ext cx="8808098" cy="2923877"/>
          </a:xfrm>
          <a:prstGeom prst="rect">
            <a:avLst/>
          </a:prstGeom>
        </p:spPr>
        <p:txBody>
          <a:bodyPr wrap="square">
            <a:spAutoFit/>
          </a:bodyPr>
          <a:lstStyle/>
          <a:p>
            <a:pPr defTabSz="685800"/>
            <a:r>
              <a:rPr lang="en-GB" sz="4000" b="1" dirty="0">
                <a:solidFill>
                  <a:prstClr val="black"/>
                </a:solidFill>
                <a:latin typeface="Calibri" panose="020F0502020204030204"/>
              </a:rPr>
              <a:t> </a:t>
            </a:r>
            <a:r>
              <a:rPr lang="en-GB" sz="4000" b="1" dirty="0" err="1" smtClean="0">
                <a:solidFill>
                  <a:schemeClr val="bg1"/>
                </a:solidFill>
                <a:latin typeface="Calibri" panose="020F0502020204030204"/>
              </a:rPr>
              <a:t>Tabua</a:t>
            </a:r>
            <a:endParaRPr lang="en-GB" sz="4000" b="1" dirty="0" smtClean="0">
              <a:solidFill>
                <a:schemeClr val="bg1"/>
              </a:solidFill>
              <a:latin typeface="Calibri" panose="020F0502020204030204"/>
            </a:endParaRPr>
          </a:p>
          <a:p>
            <a:pPr defTabSz="685800"/>
            <a:endParaRPr lang="en-GB" sz="2800" b="1" dirty="0" smtClean="0">
              <a:solidFill>
                <a:schemeClr val="bg1"/>
              </a:solidFill>
              <a:latin typeface="Calibri" panose="020F0502020204030204"/>
            </a:endParaRPr>
          </a:p>
          <a:p>
            <a:pPr defTabSz="685800"/>
            <a:endParaRPr lang="en-GB" sz="2800" b="1" dirty="0">
              <a:solidFill>
                <a:schemeClr val="bg1"/>
              </a:solidFill>
              <a:latin typeface="Calibri" panose="020F0502020204030204"/>
            </a:endParaRPr>
          </a:p>
          <a:p>
            <a:pPr marL="342900" indent="-342900" defTabSz="685800">
              <a:buFont typeface="Arial" panose="020B0604020202020204" pitchFamily="34" charset="0"/>
              <a:buChar char="•"/>
            </a:pPr>
            <a:r>
              <a:rPr lang="en-GB" sz="2200" dirty="0">
                <a:solidFill>
                  <a:prstClr val="black"/>
                </a:solidFill>
                <a:latin typeface="Calibri" panose="020F0502020204030204"/>
              </a:rPr>
              <a:t>T</a:t>
            </a:r>
            <a:r>
              <a:rPr lang="en-GB" sz="2200" dirty="0" smtClean="0">
                <a:solidFill>
                  <a:prstClr val="black"/>
                </a:solidFill>
                <a:latin typeface="Calibri" panose="020F0502020204030204"/>
              </a:rPr>
              <a:t>here </a:t>
            </a:r>
            <a:r>
              <a:rPr lang="en-GB" sz="2200" dirty="0">
                <a:solidFill>
                  <a:prstClr val="black"/>
                </a:solidFill>
                <a:latin typeface="Calibri" panose="020F0502020204030204"/>
              </a:rPr>
              <a:t>is a traditional custom called </a:t>
            </a:r>
            <a:r>
              <a:rPr lang="en-GB" sz="2200" b="1" dirty="0">
                <a:solidFill>
                  <a:prstClr val="black"/>
                </a:solidFill>
                <a:latin typeface="Calibri" panose="020F0502020204030204"/>
              </a:rPr>
              <a:t>“</a:t>
            </a:r>
            <a:r>
              <a:rPr lang="en-GB" sz="2200" b="1" dirty="0" err="1">
                <a:solidFill>
                  <a:prstClr val="black"/>
                </a:solidFill>
                <a:latin typeface="Calibri" panose="020F0502020204030204"/>
              </a:rPr>
              <a:t>Tabua</a:t>
            </a:r>
            <a:r>
              <a:rPr lang="en-GB" sz="2200" b="1" dirty="0">
                <a:solidFill>
                  <a:prstClr val="black"/>
                </a:solidFill>
                <a:latin typeface="Calibri" panose="020F0502020204030204"/>
              </a:rPr>
              <a:t>”</a:t>
            </a:r>
            <a:r>
              <a:rPr lang="en-GB" sz="2200" dirty="0">
                <a:solidFill>
                  <a:prstClr val="black"/>
                </a:solidFill>
                <a:latin typeface="Calibri" panose="020F0502020204030204"/>
              </a:rPr>
              <a:t>, which involves presenting a whale’s tooth (usually from a sperm whale).</a:t>
            </a:r>
          </a:p>
          <a:p>
            <a:pPr marL="342900" indent="-342900" defTabSz="685800">
              <a:buFont typeface="Arial" panose="020B0604020202020204" pitchFamily="34" charset="0"/>
              <a:buChar char="•"/>
            </a:pPr>
            <a:r>
              <a:rPr lang="en-GB" sz="2200" dirty="0">
                <a:solidFill>
                  <a:prstClr val="black"/>
                </a:solidFill>
                <a:latin typeface="Calibri" panose="020F0502020204030204"/>
              </a:rPr>
              <a:t>The whale’s tooth is a highly valued and sacred symbol in Fijian culture.</a:t>
            </a:r>
            <a:br>
              <a:rPr lang="en-GB" sz="2200" dirty="0">
                <a:solidFill>
                  <a:prstClr val="black"/>
                </a:solidFill>
                <a:latin typeface="Calibri" panose="020F0502020204030204"/>
              </a:rPr>
            </a:br>
            <a:endParaRPr lang="en-GB" sz="2200" dirty="0">
              <a:solidFill>
                <a:prstClr val="black"/>
              </a:solidFill>
              <a:latin typeface="Calibri" panose="020F0502020204030204"/>
            </a:endParaRPr>
          </a:p>
        </p:txBody>
      </p:sp>
    </p:spTree>
    <p:extLst>
      <p:ext uri="{BB962C8B-B14F-4D97-AF65-F5344CB8AC3E}">
        <p14:creationId xmlns:p14="http://schemas.microsoft.com/office/powerpoint/2010/main" val="223675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09" y="4318623"/>
            <a:ext cx="3669014" cy="2097262"/>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8304" y="4208181"/>
            <a:ext cx="3477221" cy="2318147"/>
          </a:xfrm>
          <a:prstGeom prst="rect">
            <a:avLst/>
          </a:prstGeom>
        </p:spPr>
      </p:pic>
      <p:sp>
        <p:nvSpPr>
          <p:cNvPr id="6" name="Rectangle 5"/>
          <p:cNvSpPr/>
          <p:nvPr/>
        </p:nvSpPr>
        <p:spPr>
          <a:xfrm>
            <a:off x="604157" y="1025065"/>
            <a:ext cx="7336193" cy="2431435"/>
          </a:xfrm>
          <a:prstGeom prst="rect">
            <a:avLst/>
          </a:prstGeom>
        </p:spPr>
        <p:txBody>
          <a:bodyPr wrap="square">
            <a:spAutoFit/>
          </a:bodyPr>
          <a:lstStyle/>
          <a:p>
            <a:pPr defTabSz="685800"/>
            <a:r>
              <a:rPr lang="en-US" sz="3800" b="1" dirty="0">
                <a:solidFill>
                  <a:schemeClr val="bg1"/>
                </a:solidFill>
                <a:effectLst>
                  <a:outerShdw blurRad="38100" dist="38100" dir="2700000" algn="tl">
                    <a:srgbClr val="000000">
                      <a:alpha val="43137"/>
                    </a:srgbClr>
                  </a:outerShdw>
                </a:effectLst>
                <a:latin typeface="Calibri" panose="020F0502020204030204"/>
              </a:rPr>
              <a:t>About </a:t>
            </a:r>
            <a:r>
              <a:rPr lang="en-US" sz="3800" b="1" dirty="0" smtClean="0">
                <a:solidFill>
                  <a:schemeClr val="bg1"/>
                </a:solidFill>
                <a:effectLst>
                  <a:outerShdw blurRad="38100" dist="38100" dir="2700000" algn="tl">
                    <a:srgbClr val="000000">
                      <a:alpha val="43137"/>
                    </a:srgbClr>
                  </a:outerShdw>
                </a:effectLst>
                <a:latin typeface="Calibri" panose="020F0502020204030204"/>
              </a:rPr>
              <a:t>Fiji</a:t>
            </a:r>
          </a:p>
          <a:p>
            <a:pPr defTabSz="685800"/>
            <a:endParaRPr lang="en-US" b="1" dirty="0">
              <a:solidFill>
                <a:prstClr val="black"/>
              </a:solidFill>
              <a:effectLst>
                <a:outerShdw blurRad="38100" dist="38100" dir="2700000" algn="tl">
                  <a:srgbClr val="000000">
                    <a:alpha val="43137"/>
                  </a:srgbClr>
                </a:outerShdw>
              </a:effectLst>
              <a:latin typeface="Calibri" panose="020F0502020204030204"/>
            </a:endParaRPr>
          </a:p>
          <a:p>
            <a:pPr defTabSz="685800"/>
            <a:endParaRPr lang="en-US" b="1" dirty="0" smtClean="0">
              <a:solidFill>
                <a:prstClr val="black"/>
              </a:solidFill>
              <a:effectLst>
                <a:outerShdw blurRad="38100" dist="38100" dir="2700000" algn="tl">
                  <a:srgbClr val="000000">
                    <a:alpha val="43137"/>
                  </a:srgbClr>
                </a:outerShdw>
              </a:effectLst>
              <a:latin typeface="Calibri" panose="020F0502020204030204"/>
            </a:endParaRPr>
          </a:p>
          <a:p>
            <a:pPr defTabSz="685800"/>
            <a:endParaRPr lang="en-US" b="1" dirty="0">
              <a:solidFill>
                <a:prstClr val="black"/>
              </a:solidFill>
              <a:effectLst>
                <a:outerShdw blurRad="38100" dist="38100" dir="2700000" algn="tl">
                  <a:srgbClr val="000000">
                    <a:alpha val="43137"/>
                  </a:srgbClr>
                </a:outerShdw>
              </a:effectLst>
              <a:latin typeface="Calibri" panose="020F0502020204030204"/>
            </a:endParaRPr>
          </a:p>
          <a:p>
            <a:pPr defTabSz="685800">
              <a:buFont typeface="Arial" panose="020B0604020202020204" pitchFamily="34" charset="0"/>
              <a:buChar char="•"/>
            </a:pPr>
            <a:r>
              <a:rPr lang="en-US" sz="2000" dirty="0">
                <a:solidFill>
                  <a:prstClr val="black"/>
                </a:solidFill>
                <a:latin typeface="Calibri" panose="020F0502020204030204"/>
              </a:rPr>
              <a:t>An island country located in the </a:t>
            </a:r>
            <a:r>
              <a:rPr lang="en-US" sz="2000" b="1" dirty="0">
                <a:solidFill>
                  <a:prstClr val="black"/>
                </a:solidFill>
                <a:latin typeface="Calibri" panose="020F0502020204030204"/>
              </a:rPr>
              <a:t>South Pacific Ocean</a:t>
            </a:r>
            <a:endParaRPr lang="en-US" sz="2000" dirty="0">
              <a:solidFill>
                <a:prstClr val="black"/>
              </a:solidFill>
              <a:latin typeface="Calibri" panose="020F0502020204030204"/>
            </a:endParaRPr>
          </a:p>
          <a:p>
            <a:pPr defTabSz="685800">
              <a:buFont typeface="Arial" panose="020B0604020202020204" pitchFamily="34" charset="0"/>
              <a:buChar char="•"/>
            </a:pPr>
            <a:r>
              <a:rPr lang="en-US" sz="2000" dirty="0">
                <a:solidFill>
                  <a:prstClr val="black"/>
                </a:solidFill>
                <a:latin typeface="Calibri" panose="020F0502020204030204"/>
              </a:rPr>
              <a:t>Near </a:t>
            </a:r>
            <a:r>
              <a:rPr lang="en-US" sz="2000" b="1" dirty="0">
                <a:solidFill>
                  <a:prstClr val="black"/>
                </a:solidFill>
                <a:latin typeface="Calibri" panose="020F0502020204030204"/>
              </a:rPr>
              <a:t>Australia and New Zealand</a:t>
            </a:r>
            <a:endParaRPr lang="en-US" sz="2000" dirty="0">
              <a:solidFill>
                <a:prstClr val="black"/>
              </a:solidFill>
              <a:latin typeface="Calibri" panose="020F0502020204030204"/>
            </a:endParaRPr>
          </a:p>
          <a:p>
            <a:pPr defTabSz="685800">
              <a:buFont typeface="Arial" panose="020B0604020202020204" pitchFamily="34" charset="0"/>
              <a:buChar char="•"/>
            </a:pPr>
            <a:r>
              <a:rPr lang="en-US" sz="2000" dirty="0" smtClean="0">
                <a:solidFill>
                  <a:prstClr val="black"/>
                </a:solidFill>
                <a:latin typeface="Calibri" panose="020F0502020204030204"/>
              </a:rPr>
              <a:t>Capital </a:t>
            </a:r>
            <a:r>
              <a:rPr lang="en-US" sz="2000" dirty="0">
                <a:solidFill>
                  <a:prstClr val="black"/>
                </a:solidFill>
                <a:latin typeface="Calibri" panose="020F0502020204030204"/>
              </a:rPr>
              <a:t>city: </a:t>
            </a:r>
            <a:r>
              <a:rPr lang="en-US" sz="2000" b="1" dirty="0" smtClean="0">
                <a:solidFill>
                  <a:prstClr val="black"/>
                </a:solidFill>
                <a:latin typeface="Calibri" panose="020F0502020204030204"/>
              </a:rPr>
              <a:t>Suva</a:t>
            </a:r>
            <a:endParaRPr lang="en-US" sz="2000" dirty="0">
              <a:solidFill>
                <a:prstClr val="black"/>
              </a:solidFill>
              <a:latin typeface="Calibri" panose="020F0502020204030204"/>
            </a:endParaRPr>
          </a:p>
        </p:txBody>
      </p:sp>
    </p:spTree>
    <p:extLst>
      <p:ext uri="{BB962C8B-B14F-4D97-AF65-F5344CB8AC3E}">
        <p14:creationId xmlns:p14="http://schemas.microsoft.com/office/powerpoint/2010/main" val="179819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791" y="5491636"/>
            <a:ext cx="2028825" cy="126444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2496" y="4135795"/>
            <a:ext cx="1811504" cy="2722205"/>
          </a:xfrm>
          <a:prstGeom prst="rect">
            <a:avLst/>
          </a:prstGeom>
        </p:spPr>
      </p:pic>
      <p:sp>
        <p:nvSpPr>
          <p:cNvPr id="5" name="Rectangle 4"/>
          <p:cNvSpPr/>
          <p:nvPr/>
        </p:nvSpPr>
        <p:spPr>
          <a:xfrm>
            <a:off x="90973" y="2350691"/>
            <a:ext cx="8297247" cy="1446550"/>
          </a:xfrm>
          <a:prstGeom prst="rect">
            <a:avLst/>
          </a:prstGeom>
        </p:spPr>
        <p:txBody>
          <a:bodyPr wrap="square">
            <a:spAutoFit/>
          </a:bodyPr>
          <a:lstStyle/>
          <a:p>
            <a:pPr marL="342900" indent="-342900" defTabSz="685800">
              <a:buFont typeface="Arial" panose="020B0604020202020204" pitchFamily="34" charset="0"/>
              <a:buChar char="•"/>
            </a:pPr>
            <a:r>
              <a:rPr lang="en-GB" sz="2200" dirty="0" err="1" smtClean="0">
                <a:solidFill>
                  <a:prstClr val="black"/>
                </a:solidFill>
                <a:latin typeface="Calibri" panose="020F0502020204030204"/>
              </a:rPr>
              <a:t>Joota</a:t>
            </a:r>
            <a:r>
              <a:rPr lang="en-GB" sz="2200" dirty="0" smtClean="0">
                <a:solidFill>
                  <a:prstClr val="black"/>
                </a:solidFill>
                <a:latin typeface="Calibri" panose="020F0502020204030204"/>
              </a:rPr>
              <a:t> </a:t>
            </a:r>
            <a:r>
              <a:rPr lang="en-GB" sz="2200" dirty="0" err="1">
                <a:solidFill>
                  <a:prstClr val="black"/>
                </a:solidFill>
                <a:latin typeface="Calibri" panose="020F0502020204030204"/>
              </a:rPr>
              <a:t>Chupai</a:t>
            </a:r>
            <a:r>
              <a:rPr lang="en-GB" sz="2200" dirty="0">
                <a:solidFill>
                  <a:prstClr val="black"/>
                </a:solidFill>
                <a:latin typeface="Calibri" panose="020F0502020204030204"/>
              </a:rPr>
              <a:t> is a well-known custom in Indian weddings, especially in North India.</a:t>
            </a:r>
          </a:p>
          <a:p>
            <a:pPr marL="342900" indent="-342900" defTabSz="685800">
              <a:buFont typeface="Arial" panose="020B0604020202020204" pitchFamily="34" charset="0"/>
              <a:buChar char="•"/>
            </a:pPr>
            <a:r>
              <a:rPr lang="en-GB" sz="2200" dirty="0">
                <a:solidFill>
                  <a:prstClr val="black"/>
                </a:solidFill>
                <a:latin typeface="Calibri" panose="020F0502020204030204"/>
              </a:rPr>
              <a:t>During the ceremony, the groom removes his shoes, and the bride’s sisters or female relatives secretly steal and hide them</a:t>
            </a:r>
            <a:r>
              <a:rPr lang="en-GB" sz="2200" dirty="0" smtClean="0">
                <a:solidFill>
                  <a:prstClr val="black"/>
                </a:solidFill>
                <a:latin typeface="Calibri" panose="020F0502020204030204"/>
              </a:rPr>
              <a:t>.</a:t>
            </a:r>
            <a:endParaRPr lang="en-GB" sz="2200" dirty="0">
              <a:solidFill>
                <a:prstClr val="black"/>
              </a:solidFill>
              <a:latin typeface="Calibri" panose="020F0502020204030204"/>
            </a:endParaRPr>
          </a:p>
        </p:txBody>
      </p:sp>
      <p:sp>
        <p:nvSpPr>
          <p:cNvPr id="4" name="Rectangle 3"/>
          <p:cNvSpPr/>
          <p:nvPr/>
        </p:nvSpPr>
        <p:spPr>
          <a:xfrm>
            <a:off x="646826" y="719498"/>
            <a:ext cx="7386832" cy="1261884"/>
          </a:xfrm>
          <a:prstGeom prst="rect">
            <a:avLst/>
          </a:prstGeom>
        </p:spPr>
        <p:txBody>
          <a:bodyPr wrap="square">
            <a:spAutoFit/>
          </a:bodyPr>
          <a:lstStyle/>
          <a:p>
            <a:pPr lvl="0" defTabSz="685800"/>
            <a:r>
              <a:rPr lang="en-GB" sz="3800" b="1" dirty="0" smtClean="0">
                <a:solidFill>
                  <a:schemeClr val="bg1"/>
                </a:solidFill>
                <a:latin typeface="Calibri" panose="020F0502020204030204"/>
              </a:rPr>
              <a:t>Stealing the Groom’s Shoes (</a:t>
            </a:r>
            <a:r>
              <a:rPr lang="en-GB" sz="3800" b="1" dirty="0" err="1" smtClean="0">
                <a:solidFill>
                  <a:schemeClr val="bg1"/>
                </a:solidFill>
                <a:latin typeface="Calibri" panose="020F0502020204030204"/>
              </a:rPr>
              <a:t>Joota</a:t>
            </a:r>
            <a:r>
              <a:rPr lang="en-GB" sz="3800" b="1" dirty="0" smtClean="0">
                <a:solidFill>
                  <a:schemeClr val="bg1"/>
                </a:solidFill>
                <a:latin typeface="Calibri" panose="020F0502020204030204"/>
              </a:rPr>
              <a:t> </a:t>
            </a:r>
            <a:r>
              <a:rPr lang="en-GB" sz="3800" b="1" dirty="0" err="1" smtClean="0">
                <a:solidFill>
                  <a:schemeClr val="bg1"/>
                </a:solidFill>
                <a:latin typeface="Calibri" panose="020F0502020204030204"/>
              </a:rPr>
              <a:t>Chupai</a:t>
            </a:r>
            <a:r>
              <a:rPr lang="en-GB" sz="3800" b="1" dirty="0" smtClean="0">
                <a:solidFill>
                  <a:schemeClr val="bg1"/>
                </a:solidFill>
                <a:latin typeface="Calibri" panose="020F0502020204030204"/>
              </a:rPr>
              <a:t>)</a:t>
            </a:r>
            <a:endParaRPr lang="en-GB" sz="3800" b="1" dirty="0">
              <a:solidFill>
                <a:schemeClr val="bg1"/>
              </a:solidFill>
              <a:latin typeface="Calibri" panose="020F0502020204030204"/>
            </a:endParaRPr>
          </a:p>
        </p:txBody>
      </p:sp>
    </p:spTree>
    <p:extLst>
      <p:ext uri="{BB962C8B-B14F-4D97-AF65-F5344CB8AC3E}">
        <p14:creationId xmlns:p14="http://schemas.microsoft.com/office/powerpoint/2010/main" val="261447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8579" y="5336421"/>
            <a:ext cx="2715375" cy="152061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0651" y="2459286"/>
            <a:ext cx="2113349" cy="2113349"/>
          </a:xfrm>
          <a:prstGeom prst="rect">
            <a:avLst/>
          </a:prstGeom>
        </p:spPr>
      </p:pic>
      <p:sp>
        <p:nvSpPr>
          <p:cNvPr id="5" name="Rectangle 4"/>
          <p:cNvSpPr/>
          <p:nvPr/>
        </p:nvSpPr>
        <p:spPr>
          <a:xfrm>
            <a:off x="147142" y="2774205"/>
            <a:ext cx="6277170" cy="1785104"/>
          </a:xfrm>
          <a:prstGeom prst="rect">
            <a:avLst/>
          </a:prstGeom>
        </p:spPr>
        <p:txBody>
          <a:bodyPr wrap="square">
            <a:spAutoFit/>
          </a:bodyPr>
          <a:lstStyle/>
          <a:p>
            <a:pPr marL="285750" indent="-285750" defTabSz="685800">
              <a:buFont typeface="Arial" panose="020B0604020202020204" pitchFamily="34" charset="0"/>
              <a:buChar char="•"/>
            </a:pPr>
            <a:r>
              <a:rPr lang="en-GB" sz="2200" dirty="0" smtClean="0">
                <a:solidFill>
                  <a:prstClr val="black"/>
                </a:solidFill>
                <a:latin typeface="Calibri" panose="020F0502020204030204"/>
              </a:rPr>
              <a:t>There </a:t>
            </a:r>
            <a:r>
              <a:rPr lang="en-GB" sz="2200" dirty="0">
                <a:solidFill>
                  <a:prstClr val="black"/>
                </a:solidFill>
                <a:latin typeface="Calibri" panose="020F0502020204030204"/>
              </a:rPr>
              <a:t>was an old wedding prank sometimes compared to a </a:t>
            </a:r>
            <a:r>
              <a:rPr lang="en-GB" sz="2200" i="1" dirty="0">
                <a:solidFill>
                  <a:prstClr val="black"/>
                </a:solidFill>
                <a:latin typeface="Calibri" panose="020F0502020204030204"/>
              </a:rPr>
              <a:t>“</a:t>
            </a:r>
            <a:r>
              <a:rPr lang="en-GB" sz="2200" i="1" dirty="0" err="1">
                <a:solidFill>
                  <a:prstClr val="black"/>
                </a:solidFill>
                <a:latin typeface="Calibri" panose="020F0502020204030204"/>
              </a:rPr>
              <a:t>Falaka</a:t>
            </a:r>
            <a:r>
              <a:rPr lang="en-GB" sz="2200" i="1" dirty="0">
                <a:solidFill>
                  <a:prstClr val="black"/>
                </a:solidFill>
                <a:latin typeface="Calibri" panose="020F0502020204030204"/>
              </a:rPr>
              <a:t>-style”</a:t>
            </a:r>
            <a:r>
              <a:rPr lang="en-GB" sz="2200" dirty="0">
                <a:solidFill>
                  <a:prstClr val="black"/>
                </a:solidFill>
                <a:latin typeface="Calibri" panose="020F0502020204030204"/>
              </a:rPr>
              <a:t> tradition.</a:t>
            </a:r>
          </a:p>
          <a:p>
            <a:pPr marL="285750" indent="-285750" defTabSz="685800">
              <a:buFont typeface="Arial" panose="020B0604020202020204" pitchFamily="34" charset="0"/>
              <a:buChar char="•"/>
            </a:pPr>
            <a:r>
              <a:rPr lang="en-GB" sz="2200" dirty="0">
                <a:solidFill>
                  <a:prstClr val="black"/>
                </a:solidFill>
                <a:latin typeface="Calibri" panose="020F0502020204030204"/>
              </a:rPr>
              <a:t>After the ceremony, the groom’s friends would tie his ankles and lightly hit the soles of his feet—sometimes even with a dried fish</a:t>
            </a:r>
            <a:r>
              <a:rPr lang="en-GB" sz="2200" dirty="0" smtClean="0">
                <a:solidFill>
                  <a:prstClr val="black"/>
                </a:solidFill>
                <a:latin typeface="Calibri" panose="020F0502020204030204"/>
              </a:rPr>
              <a:t>.</a:t>
            </a:r>
            <a:endParaRPr lang="en-GB" sz="2200" dirty="0">
              <a:solidFill>
                <a:prstClr val="black"/>
              </a:solidFill>
              <a:latin typeface="Calibri" panose="020F0502020204030204"/>
            </a:endParaRPr>
          </a:p>
        </p:txBody>
      </p:sp>
      <p:sp>
        <p:nvSpPr>
          <p:cNvPr id="4" name="Rectangle 3"/>
          <p:cNvSpPr/>
          <p:nvPr/>
        </p:nvSpPr>
        <p:spPr>
          <a:xfrm>
            <a:off x="789178" y="1018740"/>
            <a:ext cx="4993098" cy="584775"/>
          </a:xfrm>
          <a:prstGeom prst="rect">
            <a:avLst/>
          </a:prstGeom>
        </p:spPr>
        <p:txBody>
          <a:bodyPr wrap="none">
            <a:spAutoFit/>
          </a:bodyPr>
          <a:lstStyle/>
          <a:p>
            <a:pPr lvl="0" defTabSz="685800"/>
            <a:r>
              <a:rPr lang="en-GB" sz="3200" b="1" dirty="0">
                <a:solidFill>
                  <a:schemeClr val="bg1"/>
                </a:solidFill>
                <a:effectLst>
                  <a:outerShdw blurRad="38100" dist="38100" dir="2700000" algn="tl">
                    <a:srgbClr val="000000">
                      <a:alpha val="43137"/>
                    </a:srgbClr>
                  </a:outerShdw>
                </a:effectLst>
                <a:latin typeface="Calibri" panose="020F0502020204030204"/>
              </a:rPr>
              <a:t>Beating the Groom’s Feet in </a:t>
            </a:r>
          </a:p>
        </p:txBody>
      </p:sp>
    </p:spTree>
    <p:extLst>
      <p:ext uri="{BB962C8B-B14F-4D97-AF65-F5344CB8AC3E}">
        <p14:creationId xmlns:p14="http://schemas.microsoft.com/office/powerpoint/2010/main" val="3216355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CA66-5DD6-103F-D286-85D2B5FEA15C}"/>
              </a:ext>
            </a:extLst>
          </p:cNvPr>
          <p:cNvSpPr>
            <a:spLocks noGrp="1"/>
          </p:cNvSpPr>
          <p:nvPr>
            <p:ph type="ctrTitle"/>
          </p:nvPr>
        </p:nvSpPr>
        <p:spPr>
          <a:xfrm>
            <a:off x="1143000" y="1699022"/>
            <a:ext cx="6858000" cy="999554"/>
          </a:xfrm>
        </p:spPr>
        <p:txBody>
          <a:bodyPr>
            <a:normAutofit/>
          </a:bodyPr>
          <a:lstStyle/>
          <a:p>
            <a:r>
              <a:rPr lang="en-US" sz="3225" dirty="0"/>
              <a:t>Malaysia &amp; Indonesia – Bathroom Ban Tradition</a:t>
            </a:r>
          </a:p>
        </p:txBody>
      </p:sp>
      <p:sp>
        <p:nvSpPr>
          <p:cNvPr id="3" name="Subtitle 2">
            <a:extLst>
              <a:ext uri="{FF2B5EF4-FFF2-40B4-BE49-F238E27FC236}">
                <a16:creationId xmlns:a16="http://schemas.microsoft.com/office/drawing/2014/main" id="{5CF2A0B3-B395-2722-66E9-39DB052C6616}"/>
              </a:ext>
            </a:extLst>
          </p:cNvPr>
          <p:cNvSpPr>
            <a:spLocks noGrp="1"/>
          </p:cNvSpPr>
          <p:nvPr>
            <p:ph type="subTitle" idx="1"/>
          </p:nvPr>
        </p:nvSpPr>
        <p:spPr>
          <a:xfrm>
            <a:off x="1143000" y="2848888"/>
            <a:ext cx="4287033" cy="1951712"/>
          </a:xfrm>
        </p:spPr>
        <p:txBody>
          <a:bodyPr/>
          <a:lstStyle/>
          <a:p>
            <a:pPr algn="l"/>
            <a:r>
              <a:rPr lang="en-US" sz="1650" dirty="0"/>
              <a:t>In the </a:t>
            </a:r>
            <a:r>
              <a:rPr lang="en-US" sz="1650" dirty="0" err="1"/>
              <a:t>Tidong</a:t>
            </a:r>
            <a:r>
              <a:rPr lang="en-US" sz="1650" dirty="0"/>
              <a:t> tribe of Malaysia and Indonesian Borneo, the bride and groom are not allowed to leave their house or use the bathroom for three days after the wedding. They are closely monitored and allowed only small amounts of food and drink. Breaking this tradition is believed to bring bad luck, divorce, or even harm to their future children.</a:t>
            </a:r>
          </a:p>
          <a:p>
            <a:endParaRPr lang="en-US" dirty="0"/>
          </a:p>
        </p:txBody>
      </p:sp>
      <p:pic>
        <p:nvPicPr>
          <p:cNvPr id="5" name="Picture 4">
            <a:extLst>
              <a:ext uri="{FF2B5EF4-FFF2-40B4-BE49-F238E27FC236}">
                <a16:creationId xmlns:a16="http://schemas.microsoft.com/office/drawing/2014/main" id="{48B710B1-2A4A-647E-113E-FC1184B132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0089" y="2586657"/>
            <a:ext cx="1926758" cy="2572321"/>
          </a:xfrm>
          <a:prstGeom prst="rect">
            <a:avLst/>
          </a:prstGeom>
        </p:spPr>
      </p:pic>
    </p:spTree>
    <p:extLst>
      <p:ext uri="{BB962C8B-B14F-4D97-AF65-F5344CB8AC3E}">
        <p14:creationId xmlns:p14="http://schemas.microsoft.com/office/powerpoint/2010/main" val="1854248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234C3-951C-70C4-7691-ED598E81D136}"/>
              </a:ext>
            </a:extLst>
          </p:cNvPr>
          <p:cNvSpPr>
            <a:spLocks noGrp="1"/>
          </p:cNvSpPr>
          <p:nvPr>
            <p:ph type="title"/>
          </p:nvPr>
        </p:nvSpPr>
        <p:spPr/>
        <p:txBody>
          <a:bodyPr/>
          <a:lstStyle/>
          <a:p>
            <a:r>
              <a:rPr lang="en-US" b="1" dirty="0"/>
              <a:t> Australia – Marriage by Chance</a:t>
            </a:r>
            <a:br>
              <a:rPr lang="en-US" b="1" dirty="0"/>
            </a:br>
            <a:endParaRPr lang="en-US" dirty="0"/>
          </a:p>
        </p:txBody>
      </p:sp>
      <p:sp>
        <p:nvSpPr>
          <p:cNvPr id="3" name="Content Placeholder 2">
            <a:extLst>
              <a:ext uri="{FF2B5EF4-FFF2-40B4-BE49-F238E27FC236}">
                <a16:creationId xmlns:a16="http://schemas.microsoft.com/office/drawing/2014/main" id="{DF1848DA-6F3E-C2F5-278C-E675E2E418FA}"/>
              </a:ext>
            </a:extLst>
          </p:cNvPr>
          <p:cNvSpPr>
            <a:spLocks noGrp="1"/>
          </p:cNvSpPr>
          <p:nvPr>
            <p:ph idx="1"/>
          </p:nvPr>
        </p:nvSpPr>
        <p:spPr>
          <a:xfrm>
            <a:off x="628650" y="2125267"/>
            <a:ext cx="4040427" cy="3438638"/>
          </a:xfrm>
        </p:spPr>
        <p:txBody>
          <a:bodyPr/>
          <a:lstStyle/>
          <a:p>
            <a:r>
              <a:rPr lang="en-US" dirty="0"/>
              <a:t>In some Australian tribes, when a young man proposes, a large celebration is held. The family may offer him any girl from </a:t>
            </a:r>
            <a:r>
              <a:rPr lang="en-US" sz="1650" dirty="0"/>
              <a:t>the</a:t>
            </a:r>
            <a:r>
              <a:rPr lang="en-US" dirty="0"/>
              <a:t> house — either the one he chose or possibly her sister. Marriage in this case depends largely on luck.</a:t>
            </a:r>
          </a:p>
          <a:p>
            <a:endParaRPr lang="en-US" dirty="0"/>
          </a:p>
        </p:txBody>
      </p:sp>
      <p:pic>
        <p:nvPicPr>
          <p:cNvPr id="5" name="Picture 4">
            <a:extLst>
              <a:ext uri="{FF2B5EF4-FFF2-40B4-BE49-F238E27FC236}">
                <a16:creationId xmlns:a16="http://schemas.microsoft.com/office/drawing/2014/main" id="{E00D4364-21A7-C52C-6A8B-91E19D31B1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2026" y="2404075"/>
            <a:ext cx="3080376" cy="2049851"/>
          </a:xfrm>
          <a:prstGeom prst="rect">
            <a:avLst/>
          </a:prstGeom>
        </p:spPr>
      </p:pic>
    </p:spTree>
    <p:extLst>
      <p:ext uri="{BB962C8B-B14F-4D97-AF65-F5344CB8AC3E}">
        <p14:creationId xmlns:p14="http://schemas.microsoft.com/office/powerpoint/2010/main" val="4257104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9AF00-B572-905A-8971-926C71842736}"/>
              </a:ext>
            </a:extLst>
          </p:cNvPr>
          <p:cNvSpPr>
            <a:spLocks noGrp="1"/>
          </p:cNvSpPr>
          <p:nvPr>
            <p:ph type="title"/>
          </p:nvPr>
        </p:nvSpPr>
        <p:spPr/>
        <p:txBody>
          <a:bodyPr/>
          <a:lstStyle/>
          <a:p>
            <a:r>
              <a:rPr lang="en-US" b="1" dirty="0"/>
              <a:t> South India – The Groom’s Pain Test</a:t>
            </a:r>
            <a:br>
              <a:rPr lang="en-US" b="1" dirty="0"/>
            </a:br>
            <a:endParaRPr lang="en-US" dirty="0"/>
          </a:p>
        </p:txBody>
      </p:sp>
      <p:sp>
        <p:nvSpPr>
          <p:cNvPr id="3" name="Content Placeholder 2">
            <a:extLst>
              <a:ext uri="{FF2B5EF4-FFF2-40B4-BE49-F238E27FC236}">
                <a16:creationId xmlns:a16="http://schemas.microsoft.com/office/drawing/2014/main" id="{C6E7CAD0-5FDE-60C4-67BF-506CB14937E9}"/>
              </a:ext>
            </a:extLst>
          </p:cNvPr>
          <p:cNvSpPr>
            <a:spLocks noGrp="1"/>
          </p:cNvSpPr>
          <p:nvPr>
            <p:ph idx="1"/>
          </p:nvPr>
        </p:nvSpPr>
        <p:spPr/>
        <p:txBody>
          <a:bodyPr/>
          <a:lstStyle/>
          <a:p>
            <a:r>
              <a:rPr lang="en-US" dirty="0"/>
              <a:t>In a town in South India, the bride tests her groom by taking him to the forest and burning his bare back. If he shows pain or complains, she rejects him and may even shame him publicly. If he endures the pain, he is considered worthy of marriage.</a:t>
            </a:r>
          </a:p>
          <a:p>
            <a:endParaRPr lang="en-US" dirty="0"/>
          </a:p>
        </p:txBody>
      </p:sp>
      <p:pic>
        <p:nvPicPr>
          <p:cNvPr id="7" name="Picture 6">
            <a:extLst>
              <a:ext uri="{FF2B5EF4-FFF2-40B4-BE49-F238E27FC236}">
                <a16:creationId xmlns:a16="http://schemas.microsoft.com/office/drawing/2014/main" id="{0A617A96-1F21-6613-7DE8-3D9D345BB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1386" y="3533564"/>
            <a:ext cx="4681889" cy="1956409"/>
          </a:xfrm>
          <a:prstGeom prst="rect">
            <a:avLst/>
          </a:prstGeom>
        </p:spPr>
      </p:pic>
    </p:spTree>
    <p:extLst>
      <p:ext uri="{BB962C8B-B14F-4D97-AF65-F5344CB8AC3E}">
        <p14:creationId xmlns:p14="http://schemas.microsoft.com/office/powerpoint/2010/main" val="20680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938D-056E-92DD-7C7A-6D03D1122807}"/>
              </a:ext>
            </a:extLst>
          </p:cNvPr>
          <p:cNvSpPr>
            <a:spLocks noGrp="1"/>
          </p:cNvSpPr>
          <p:nvPr>
            <p:ph type="title"/>
          </p:nvPr>
        </p:nvSpPr>
        <p:spPr/>
        <p:txBody>
          <a:bodyPr/>
          <a:lstStyle/>
          <a:p>
            <a:r>
              <a:rPr lang="en-US" dirty="0"/>
              <a:t>India (Tamil Brahmin) – The Groom Changes His Mind</a:t>
            </a:r>
          </a:p>
        </p:txBody>
      </p:sp>
      <p:sp>
        <p:nvSpPr>
          <p:cNvPr id="3" name="Content Placeholder 2">
            <a:extLst>
              <a:ext uri="{FF2B5EF4-FFF2-40B4-BE49-F238E27FC236}">
                <a16:creationId xmlns:a16="http://schemas.microsoft.com/office/drawing/2014/main" id="{8BFFB998-5AAE-EC14-E1DC-857D637BC2C7}"/>
              </a:ext>
            </a:extLst>
          </p:cNvPr>
          <p:cNvSpPr>
            <a:spLocks noGrp="1"/>
          </p:cNvSpPr>
          <p:nvPr>
            <p:ph idx="1"/>
          </p:nvPr>
        </p:nvSpPr>
        <p:spPr>
          <a:xfrm>
            <a:off x="628650" y="2707970"/>
            <a:ext cx="4143767" cy="1803749"/>
          </a:xfrm>
        </p:spPr>
        <p:txBody>
          <a:bodyPr>
            <a:normAutofit fontScale="92500"/>
          </a:bodyPr>
          <a:lstStyle/>
          <a:p>
            <a:r>
              <a:rPr lang="en-US" dirty="0"/>
              <a:t>In Tamil Brahmin weddings in India, the groom pretends that he has changed his mind and wants to live as a monk instead of getting married. His father then convinces him to return and complete the wedding ceremony.</a:t>
            </a:r>
          </a:p>
          <a:p>
            <a:endParaRPr lang="en-US" dirty="0"/>
          </a:p>
        </p:txBody>
      </p:sp>
      <p:pic>
        <p:nvPicPr>
          <p:cNvPr id="5" name="Picture 4">
            <a:extLst>
              <a:ext uri="{FF2B5EF4-FFF2-40B4-BE49-F238E27FC236}">
                <a16:creationId xmlns:a16="http://schemas.microsoft.com/office/drawing/2014/main" id="{AE1A24A0-AEE7-7838-8E15-7A6F606589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1029" y="2547372"/>
            <a:ext cx="3330994" cy="2463149"/>
          </a:xfrm>
          <a:prstGeom prst="rect">
            <a:avLst/>
          </a:prstGeom>
        </p:spPr>
      </p:pic>
    </p:spTree>
    <p:extLst>
      <p:ext uri="{BB962C8B-B14F-4D97-AF65-F5344CB8AC3E}">
        <p14:creationId xmlns:p14="http://schemas.microsoft.com/office/powerpoint/2010/main" val="1095510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5F63-976E-4288-4385-917A13F49A9F}"/>
              </a:ext>
            </a:extLst>
          </p:cNvPr>
          <p:cNvSpPr>
            <a:spLocks noGrp="1"/>
          </p:cNvSpPr>
          <p:nvPr>
            <p:ph type="title"/>
          </p:nvPr>
        </p:nvSpPr>
        <p:spPr/>
        <p:txBody>
          <a:bodyPr/>
          <a:lstStyle/>
          <a:p>
            <a:r>
              <a:rPr lang="en-US" b="1" dirty="0"/>
              <a:t>Sudan – The Falling Dance Test</a:t>
            </a:r>
            <a:br>
              <a:rPr lang="en-US" b="1" dirty="0"/>
            </a:br>
            <a:endParaRPr lang="en-US" dirty="0"/>
          </a:p>
        </p:txBody>
      </p:sp>
      <p:sp>
        <p:nvSpPr>
          <p:cNvPr id="3" name="Content Placeholder 2">
            <a:extLst>
              <a:ext uri="{FF2B5EF4-FFF2-40B4-BE49-F238E27FC236}">
                <a16:creationId xmlns:a16="http://schemas.microsoft.com/office/drawing/2014/main" id="{700AC902-A5EC-A9F2-AA9E-0C733E3181B9}"/>
              </a:ext>
            </a:extLst>
          </p:cNvPr>
          <p:cNvSpPr>
            <a:spLocks noGrp="1"/>
          </p:cNvSpPr>
          <p:nvPr>
            <p:ph idx="1"/>
          </p:nvPr>
        </p:nvSpPr>
        <p:spPr>
          <a:xfrm>
            <a:off x="628650" y="2226469"/>
            <a:ext cx="3826262" cy="1787340"/>
          </a:xfrm>
        </p:spPr>
        <p:txBody>
          <a:bodyPr>
            <a:normAutofit fontScale="92500"/>
          </a:bodyPr>
          <a:lstStyle/>
          <a:p>
            <a:r>
              <a:rPr lang="en-US" dirty="0"/>
              <a:t>In some Sudanese weddings, the bride intentionally falls during the dance several times. The groom must catch her each time. If he fails, he may feel embarrassed in front of the guests.</a:t>
            </a:r>
          </a:p>
          <a:p>
            <a:endParaRPr lang="en-US" dirty="0"/>
          </a:p>
        </p:txBody>
      </p:sp>
      <p:pic>
        <p:nvPicPr>
          <p:cNvPr id="5" name="Picture 4">
            <a:extLst>
              <a:ext uri="{FF2B5EF4-FFF2-40B4-BE49-F238E27FC236}">
                <a16:creationId xmlns:a16="http://schemas.microsoft.com/office/drawing/2014/main" id="{6F889728-EC44-0A5A-6B5B-3605F9222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4911" y="2298610"/>
            <a:ext cx="3826262" cy="2955974"/>
          </a:xfrm>
          <a:prstGeom prst="rect">
            <a:avLst/>
          </a:prstGeom>
        </p:spPr>
      </p:pic>
    </p:spTree>
    <p:extLst>
      <p:ext uri="{BB962C8B-B14F-4D97-AF65-F5344CB8AC3E}">
        <p14:creationId xmlns:p14="http://schemas.microsoft.com/office/powerpoint/2010/main" val="2483566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57B76-5BB1-AA03-7B04-76FDABE188F3}"/>
              </a:ext>
            </a:extLst>
          </p:cNvPr>
          <p:cNvSpPr>
            <a:spLocks noGrp="1"/>
          </p:cNvSpPr>
          <p:nvPr>
            <p:ph type="title"/>
          </p:nvPr>
        </p:nvSpPr>
        <p:spPr/>
        <p:txBody>
          <a:bodyPr/>
          <a:lstStyle/>
          <a:p>
            <a:r>
              <a:rPr lang="en-US" b="1" dirty="0"/>
              <a:t> Congo – No Smiling at the Wedding</a:t>
            </a:r>
            <a:br>
              <a:rPr lang="en-US" b="1" dirty="0"/>
            </a:br>
            <a:endParaRPr lang="en-US" dirty="0"/>
          </a:p>
        </p:txBody>
      </p:sp>
      <p:sp>
        <p:nvSpPr>
          <p:cNvPr id="3" name="Content Placeholder 2">
            <a:extLst>
              <a:ext uri="{FF2B5EF4-FFF2-40B4-BE49-F238E27FC236}">
                <a16:creationId xmlns:a16="http://schemas.microsoft.com/office/drawing/2014/main" id="{268E1C9F-98CB-3FAF-4A03-B2CC91E68398}"/>
              </a:ext>
            </a:extLst>
          </p:cNvPr>
          <p:cNvSpPr>
            <a:spLocks noGrp="1"/>
          </p:cNvSpPr>
          <p:nvPr>
            <p:ph idx="1"/>
          </p:nvPr>
        </p:nvSpPr>
        <p:spPr>
          <a:xfrm>
            <a:off x="628651" y="2226469"/>
            <a:ext cx="4115583" cy="1505504"/>
          </a:xfrm>
        </p:spPr>
        <p:txBody>
          <a:bodyPr>
            <a:normAutofit fontScale="92500"/>
          </a:bodyPr>
          <a:lstStyle/>
          <a:p>
            <a:r>
              <a:rPr lang="en-US" dirty="0"/>
              <a:t>In the Republic of Congo, the bride and groom are not allowed to smile during the wedding ceremony. Smiling is considered a sign that they are not serious about marriage.</a:t>
            </a:r>
          </a:p>
          <a:p>
            <a:endParaRPr lang="en-US" dirty="0"/>
          </a:p>
          <a:p>
            <a:endParaRPr lang="en-US" dirty="0"/>
          </a:p>
        </p:txBody>
      </p:sp>
      <p:pic>
        <p:nvPicPr>
          <p:cNvPr id="5" name="Picture 4">
            <a:extLst>
              <a:ext uri="{FF2B5EF4-FFF2-40B4-BE49-F238E27FC236}">
                <a16:creationId xmlns:a16="http://schemas.microsoft.com/office/drawing/2014/main" id="{16188EF7-B67C-0CE2-6220-A9260E6CC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7781" y="2496539"/>
            <a:ext cx="3281819" cy="2470868"/>
          </a:xfrm>
          <a:prstGeom prst="rect">
            <a:avLst/>
          </a:prstGeom>
        </p:spPr>
      </p:pic>
    </p:spTree>
    <p:extLst>
      <p:ext uri="{BB962C8B-B14F-4D97-AF65-F5344CB8AC3E}">
        <p14:creationId xmlns:p14="http://schemas.microsoft.com/office/powerpoint/2010/main" val="930199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3783-A1E4-44FF-5734-36EF373CE9AB}"/>
              </a:ext>
            </a:extLst>
          </p:cNvPr>
          <p:cNvSpPr>
            <a:spLocks noGrp="1"/>
          </p:cNvSpPr>
          <p:nvPr>
            <p:ph type="title"/>
          </p:nvPr>
        </p:nvSpPr>
        <p:spPr/>
        <p:txBody>
          <a:bodyPr/>
          <a:lstStyle/>
          <a:p>
            <a:r>
              <a:rPr lang="en-US" dirty="0"/>
              <a:t>China – Seeing the Bride for the First Time</a:t>
            </a:r>
          </a:p>
        </p:txBody>
      </p:sp>
      <p:sp>
        <p:nvSpPr>
          <p:cNvPr id="3" name="Content Placeholder 2">
            <a:extLst>
              <a:ext uri="{FF2B5EF4-FFF2-40B4-BE49-F238E27FC236}">
                <a16:creationId xmlns:a16="http://schemas.microsoft.com/office/drawing/2014/main" id="{D6CA7BA9-390A-18DB-8FBC-423112697489}"/>
              </a:ext>
            </a:extLst>
          </p:cNvPr>
          <p:cNvSpPr>
            <a:spLocks noGrp="1"/>
          </p:cNvSpPr>
          <p:nvPr>
            <p:ph idx="1"/>
          </p:nvPr>
        </p:nvSpPr>
        <p:spPr/>
        <p:txBody>
          <a:bodyPr/>
          <a:lstStyle/>
          <a:p>
            <a:r>
              <a:rPr lang="en-US" dirty="0"/>
              <a:t>In some parts of China, the bride and groom do not see each other before engagement. After agreement, the bride is placed in a covered sedan chair and taken outside the town. The groom receives the key, opens it, and sees her for the first time. If he approves, he takes her home; if not, she returns to her family.</a:t>
            </a:r>
          </a:p>
          <a:p>
            <a:endParaRPr lang="en-US" dirty="0"/>
          </a:p>
        </p:txBody>
      </p:sp>
      <p:pic>
        <p:nvPicPr>
          <p:cNvPr id="5" name="Picture 4">
            <a:extLst>
              <a:ext uri="{FF2B5EF4-FFF2-40B4-BE49-F238E27FC236}">
                <a16:creationId xmlns:a16="http://schemas.microsoft.com/office/drawing/2014/main" id="{90C1894A-6DAC-F803-3D8D-BB5169789F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8480" y="3750907"/>
            <a:ext cx="3306871" cy="2060972"/>
          </a:xfrm>
          <a:prstGeom prst="rect">
            <a:avLst/>
          </a:prstGeom>
        </p:spPr>
      </p:pic>
    </p:spTree>
    <p:extLst>
      <p:ext uri="{BB962C8B-B14F-4D97-AF65-F5344CB8AC3E}">
        <p14:creationId xmlns:p14="http://schemas.microsoft.com/office/powerpoint/2010/main" val="4130080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3000" y="1293338"/>
            <a:ext cx="6858000" cy="3274592"/>
          </a:xfrm>
        </p:spPr>
        <p:txBody>
          <a:bodyPr vert="horz" lIns="91440" tIns="45720" rIns="91440" bIns="45720" rtlCol="0" anchor="ctr">
            <a:normAutofit/>
          </a:bodyPr>
          <a:lstStyle/>
          <a:p>
            <a:pPr defTabSz="914400">
              <a:lnSpc>
                <a:spcPct val="90000"/>
              </a:lnSpc>
            </a:pPr>
            <a:r>
              <a:rPr lang="en-US" sz="6300" kern="1200" dirty="0">
                <a:solidFill>
                  <a:schemeClr val="tx1"/>
                </a:solidFill>
                <a:latin typeface="+mj-lt"/>
                <a:ea typeface="+mj-ea"/>
                <a:cs typeface="+mj-cs"/>
              </a:rPr>
              <a:t> Bride Kidnapping Tradition</a:t>
            </a:r>
          </a:p>
        </p:txBody>
      </p:sp>
      <p:sp>
        <p:nvSpPr>
          <p:cNvPr id="3" name="Content Placeholder 2"/>
          <p:cNvSpPr>
            <a:spLocks noGrp="1"/>
          </p:cNvSpPr>
          <p:nvPr>
            <p:ph idx="1"/>
          </p:nvPr>
        </p:nvSpPr>
        <p:spPr>
          <a:xfrm>
            <a:off x="1143000" y="5514052"/>
            <a:ext cx="6858000" cy="651910"/>
          </a:xfrm>
        </p:spPr>
        <p:txBody>
          <a:bodyPr vert="horz" lIns="91440" tIns="45720" rIns="91440" bIns="45720" rtlCol="0" anchor="ctr">
            <a:normAutofit/>
          </a:bodyPr>
          <a:lstStyle/>
          <a:p>
            <a:pPr marL="0" indent="0" algn="ctr" defTabSz="914400">
              <a:lnSpc>
                <a:spcPct val="90000"/>
              </a:lnSpc>
              <a:spcBef>
                <a:spcPts val="1000"/>
              </a:spcBef>
              <a:buNone/>
            </a:pPr>
            <a:r>
              <a:rPr lang="en-US" sz="2000" kern="1200">
                <a:solidFill>
                  <a:schemeClr val="tx1"/>
                </a:solidFill>
                <a:latin typeface="+mn-lt"/>
                <a:ea typeface="+mn-ea"/>
                <a:cs typeface="+mn-cs"/>
              </a:rPr>
              <a:t>Before the wedding, friends of bridegroom temporarily 'kidnap' the bride.</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B6FACB3C-9069-4791-BC5C-0DB7CD19B8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1F2038E-D777-4B76-81DD-DD13EE91B9D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A80E49-2ED5-62C1-09A9-A23E332D8E2E}"/>
              </a:ext>
            </a:extLst>
          </p:cNvPr>
          <p:cNvSpPr txBox="1"/>
          <p:nvPr/>
        </p:nvSpPr>
        <p:spPr>
          <a:xfrm>
            <a:off x="603504" y="802955"/>
            <a:ext cx="3574747"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Bef>
                <a:spcPct val="0"/>
              </a:spcBef>
              <a:spcAft>
                <a:spcPts val="600"/>
              </a:spcAft>
            </a:pPr>
            <a:r>
              <a:rPr lang="en-US" sz="3800" kern="1200" dirty="0">
                <a:solidFill>
                  <a:schemeClr val="tx2"/>
                </a:solidFill>
                <a:latin typeface="+mj-lt"/>
                <a:ea typeface="+mj-ea"/>
                <a:cs typeface="+mj-cs"/>
              </a:rPr>
              <a:t>Russia</a:t>
            </a:r>
          </a:p>
        </p:txBody>
      </p:sp>
      <p:sp>
        <p:nvSpPr>
          <p:cNvPr id="3" name="Content Placeholder 2">
            <a:extLst>
              <a:ext uri="{FF2B5EF4-FFF2-40B4-BE49-F238E27FC236}">
                <a16:creationId xmlns:a16="http://schemas.microsoft.com/office/drawing/2014/main" id="{BCD536A0-2A46-0CD9-C4B0-A7872C1575D5}"/>
              </a:ext>
            </a:extLst>
          </p:cNvPr>
          <p:cNvSpPr>
            <a:spLocks noGrp="1"/>
          </p:cNvSpPr>
          <p:nvPr>
            <p:ph idx="1"/>
          </p:nvPr>
        </p:nvSpPr>
        <p:spPr>
          <a:xfrm>
            <a:off x="603504" y="2421683"/>
            <a:ext cx="3574461" cy="3353476"/>
          </a:xfrm>
        </p:spPr>
        <p:txBody>
          <a:bodyPr vert="horz" lIns="91440" tIns="45720" rIns="91440" bIns="45720" rtlCol="0" anchor="t">
            <a:normAutofit/>
          </a:bodyPr>
          <a:lstStyle/>
          <a:p>
            <a:pPr indent="-228600" defTabSz="914400">
              <a:lnSpc>
                <a:spcPct val="90000"/>
              </a:lnSpc>
              <a:buFont typeface="Arial" panose="020B0604020202020204" pitchFamily="34" charset="0"/>
              <a:buChar char="•"/>
            </a:pPr>
            <a:endParaRPr lang="en-US" sz="1600" dirty="0">
              <a:solidFill>
                <a:schemeClr val="tx2"/>
              </a:solidFill>
            </a:endParaRPr>
          </a:p>
          <a:p>
            <a:pPr indent="-228600" defTabSz="914400">
              <a:lnSpc>
                <a:spcPct val="90000"/>
              </a:lnSpc>
              <a:buFont typeface="Arial" panose="020B0604020202020204" pitchFamily="34" charset="0"/>
              <a:buChar char="•"/>
            </a:pPr>
            <a:r>
              <a:rPr lang="en-US" sz="2200" dirty="0">
                <a:solidFill>
                  <a:schemeClr val="tx2"/>
                </a:solidFill>
              </a:rPr>
              <a:t>The groom must pay a symbolic ransom to get her back.</a:t>
            </a:r>
          </a:p>
          <a:p>
            <a:pPr indent="-228600" defTabSz="914400">
              <a:lnSpc>
                <a:spcPct val="90000"/>
              </a:lnSpc>
              <a:buFont typeface="Arial" panose="020B0604020202020204" pitchFamily="34" charset="0"/>
              <a:buChar char="•"/>
            </a:pPr>
            <a:r>
              <a:rPr lang="en-US" sz="2200" dirty="0">
                <a:solidFill>
                  <a:schemeClr val="tx2"/>
                </a:solidFill>
              </a:rPr>
              <a:t>Purpose: Fun, proving the groom’s courage, and enhancing celebration spirit.</a:t>
            </a:r>
          </a:p>
          <a:p>
            <a:pPr indent="-228600" defTabSz="914400">
              <a:lnSpc>
                <a:spcPct val="90000"/>
              </a:lnSpc>
              <a:buFont typeface="Arial" panose="020B0604020202020204" pitchFamily="34" charset="0"/>
              <a:buChar char="•"/>
            </a:pPr>
            <a:endParaRPr lang="en-US" sz="1600" dirty="0">
              <a:solidFill>
                <a:schemeClr val="tx2"/>
              </a:solidFill>
            </a:endParaRPr>
          </a:p>
        </p:txBody>
      </p:sp>
      <p:grpSp>
        <p:nvGrpSpPr>
          <p:cNvPr id="39" name="Group 38">
            <a:extLst>
              <a:ext uri="{FF2B5EF4-FFF2-40B4-BE49-F238E27FC236}">
                <a16:creationId xmlns:a16="http://schemas.microsoft.com/office/drawing/2014/main" id="{DD354807-230F-4402-B1B9-F733A8F1F190}"/>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40" name="Freeform: Shape 39">
              <a:extLst>
                <a:ext uri="{FF2B5EF4-FFF2-40B4-BE49-F238E27FC236}">
                  <a16:creationId xmlns:a16="http://schemas.microsoft.com/office/drawing/2014/main" id="{BF5A6F4A-CE87-4D5C-9382-8167967CE81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61023DD2-2E6F-4419-B404-80F08460BE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BC4A6C98-F96E-4587-B01F-A9B01BBFAD0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A66409EC-9CC3-482A-A4A5-54ED092B3F2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flag of the russian federation&#10;&#10;AI-generated content may be incorrect.">
            <a:extLst>
              <a:ext uri="{FF2B5EF4-FFF2-40B4-BE49-F238E27FC236}">
                <a16:creationId xmlns:a16="http://schemas.microsoft.com/office/drawing/2014/main" id="{04C5F83E-3860-8436-8317-D8DC12D2F013}"/>
              </a:ext>
            </a:extLst>
          </p:cNvPr>
          <p:cNvPicPr>
            <a:picLocks noChangeAspect="1"/>
          </p:cNvPicPr>
          <p:nvPr/>
        </p:nvPicPr>
        <p:blipFill>
          <a:blip r:embed="rId2"/>
          <a:stretch>
            <a:fillRect/>
          </a:stretch>
        </p:blipFill>
        <p:spPr>
          <a:xfrm>
            <a:off x="5781294" y="2853143"/>
            <a:ext cx="3106674" cy="2075258"/>
          </a:xfrm>
          <a:prstGeom prst="rect">
            <a:avLst/>
          </a:prstGeom>
        </p:spPr>
      </p:pic>
    </p:spTree>
    <p:extLst>
      <p:ext uri="{BB962C8B-B14F-4D97-AF65-F5344CB8AC3E}">
        <p14:creationId xmlns:p14="http://schemas.microsoft.com/office/powerpoint/2010/main" val="14561431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Triangle 26">
            <a:extLst>
              <a:ext uri="{FF2B5EF4-FFF2-40B4-BE49-F238E27FC236}">
                <a16:creationId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lnSpc>
                <a:spcPct val="90000"/>
              </a:lnSpc>
            </a:pPr>
            <a:r>
              <a:rPr lang="en-US" dirty="0"/>
              <a:t> Breaking Plates Tradition</a:t>
            </a:r>
          </a:p>
        </p:txBody>
      </p:sp>
      <p:cxnSp>
        <p:nvCxnSpPr>
          <p:cNvPr id="29" name="Straight Connector 28">
            <a:extLst>
              <a:ext uri="{FF2B5EF4-FFF2-40B4-BE49-F238E27FC236}">
                <a16:creationId xmlns:a16="http://schemas.microsoft.com/office/drawing/2014/main" id="{23AAC9B5-8015-485C-ACF9-A750390E9A56}"/>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vert="horz" lIns="91440" tIns="45720" rIns="91440" bIns="45720" rtlCol="0" anchor="ctr">
            <a:normAutofit/>
          </a:bodyPr>
          <a:lstStyle/>
          <a:p>
            <a:r>
              <a:rPr lang="en-US" sz="2400" dirty="0" smtClean="0"/>
              <a:t>Friends and family break old plates in front of the couple’s door.</a:t>
            </a:r>
            <a:endParaRPr lang="en-US" sz="2400" dirty="0"/>
          </a:p>
          <a:p>
            <a:endParaRPr lang="en-US" sz="2100" dirty="0">
              <a:ea typeface="Calibri"/>
              <a:cs typeface="Calibri"/>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97F24A-32CE-4C1C-A50D-3016B394DC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CD8B4F24-440B-49E9-B85D-733523DC064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A42E4BE-B0EE-E385-21C1-F1ECFB631FD3}"/>
              </a:ext>
            </a:extLst>
          </p:cNvPr>
          <p:cNvSpPr txBox="1"/>
          <p:nvPr/>
        </p:nvSpPr>
        <p:spPr>
          <a:xfrm>
            <a:off x="473202" y="2688648"/>
            <a:ext cx="257175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28600" lvl="0" indent="-228600" defTabSz="914400">
              <a:lnSpc>
                <a:spcPct val="90000"/>
              </a:lnSpc>
              <a:spcAft>
                <a:spcPts val="600"/>
              </a:spcAft>
              <a:buFont typeface="Arial" panose="020B0604020202020204" pitchFamily="34" charset="0"/>
              <a:buChar char="•"/>
            </a:pPr>
            <a:r>
              <a:rPr lang="en-US" sz="2200" baseline="0" dirty="0"/>
              <a:t>Purpose: Bring good </a:t>
            </a:r>
            <a:r>
              <a:rPr lang="en-US" sz="2200" baseline="0" dirty="0" err="1"/>
              <a:t>luckand</a:t>
            </a:r>
            <a:r>
              <a:rPr lang="en-US" sz="2200" baseline="0" dirty="0"/>
              <a:t> protect the couple </a:t>
            </a:r>
            <a:r>
              <a:rPr lang="en-US" sz="2200" baseline="0" dirty="0" err="1"/>
              <a:t>fromevil</a:t>
            </a:r>
            <a:r>
              <a:rPr lang="en-US" sz="2200" baseline="0" dirty="0"/>
              <a:t> spirits.</a:t>
            </a:r>
            <a:r>
              <a:rPr lang="en-US" sz="2200" dirty="0"/>
              <a:t>​</a:t>
            </a:r>
          </a:p>
          <a:p>
            <a:pPr marL="228600" indent="-228600" defTabSz="914400">
              <a:lnSpc>
                <a:spcPct val="90000"/>
              </a:lnSpc>
              <a:spcAft>
                <a:spcPts val="600"/>
              </a:spcAft>
              <a:buFont typeface="Arial" panose="020B0604020202020204" pitchFamily="34" charset="0"/>
              <a:buChar char="•"/>
            </a:pPr>
            <a:r>
              <a:rPr lang="en-US" sz="2200" baseline="0" dirty="0"/>
              <a:t>More broken plates </a:t>
            </a:r>
            <a:r>
              <a:rPr lang="en-US" sz="2200" dirty="0"/>
              <a:t>mean more</a:t>
            </a:r>
            <a:r>
              <a:rPr lang="en-US" sz="2200" baseline="0" dirty="0"/>
              <a:t> luck!</a:t>
            </a:r>
            <a:r>
              <a:rPr lang="en-US" sz="2200" dirty="0"/>
              <a:t>​</a:t>
            </a:r>
            <a:endParaRPr lang="en-US" sz="2200" dirty="0">
              <a:ea typeface="Calibri"/>
              <a:cs typeface="Calibri"/>
            </a:endParaRPr>
          </a:p>
          <a:p>
            <a:pPr marL="228600" lvl="0" indent="-228600" defTabSz="914400">
              <a:lnSpc>
                <a:spcPct val="90000"/>
              </a:lnSpc>
              <a:spcAft>
                <a:spcPts val="600"/>
              </a:spcAft>
              <a:buFont typeface="Arial" panose="020B0604020202020204" pitchFamily="34" charset="0"/>
              <a:buChar char="•"/>
            </a:pPr>
            <a:r>
              <a:rPr lang="en-US" sz="2200" baseline="0" dirty="0"/>
              <a:t>This tradition is unique </a:t>
            </a:r>
            <a:r>
              <a:rPr lang="en-US" sz="2200" baseline="0" dirty="0" err="1"/>
              <a:t>andsurprising</a:t>
            </a:r>
            <a:r>
              <a:rPr lang="en-US" sz="2200" baseline="0" dirty="0"/>
              <a:t> to </a:t>
            </a:r>
            <a:r>
              <a:rPr lang="en-US" sz="2200" baseline="0" dirty="0" err="1"/>
              <a:t>manycultures</a:t>
            </a:r>
            <a:r>
              <a:rPr lang="en-US" sz="2200" baseline="0" dirty="0"/>
              <a:t>.</a:t>
            </a:r>
          </a:p>
          <a:p>
            <a:pPr indent="-228600" defTabSz="914400">
              <a:lnSpc>
                <a:spcPct val="90000"/>
              </a:lnSpc>
              <a:spcAft>
                <a:spcPts val="600"/>
              </a:spcAft>
              <a:buFont typeface="Arial" panose="020B0604020202020204" pitchFamily="34" charset="0"/>
              <a:buChar char="•"/>
            </a:pPr>
            <a:endParaRPr lang="en-US" sz="1900" dirty="0"/>
          </a:p>
        </p:txBody>
      </p:sp>
      <p:pic>
        <p:nvPicPr>
          <p:cNvPr id="3" name="Picture 2" descr="A red and white flag&#10;&#10;AI-generated content may be incorrect.">
            <a:extLst>
              <a:ext uri="{FF2B5EF4-FFF2-40B4-BE49-F238E27FC236}">
                <a16:creationId xmlns:a16="http://schemas.microsoft.com/office/drawing/2014/main" id="{E0F25965-77AD-FA64-42A6-68288461BC63}"/>
              </a:ext>
            </a:extLst>
          </p:cNvPr>
          <p:cNvPicPr>
            <a:picLocks noChangeAspect="1"/>
          </p:cNvPicPr>
          <p:nvPr/>
        </p:nvPicPr>
        <p:blipFill>
          <a:blip r:embed="rId2"/>
          <a:stretch>
            <a:fillRect/>
          </a:stretch>
        </p:blipFill>
        <p:spPr>
          <a:xfrm>
            <a:off x="4085539" y="640080"/>
            <a:ext cx="3988155" cy="5577840"/>
          </a:xfrm>
          <a:prstGeom prst="rect">
            <a:avLst/>
          </a:prstGeom>
        </p:spPr>
      </p:pic>
      <p:sp>
        <p:nvSpPr>
          <p:cNvPr id="4" name="TextBox 3">
            <a:extLst>
              <a:ext uri="{FF2B5EF4-FFF2-40B4-BE49-F238E27FC236}">
                <a16:creationId xmlns:a16="http://schemas.microsoft.com/office/drawing/2014/main" id="{D62B1ED8-9B94-2DB3-A349-C300563B07B9}"/>
              </a:ext>
            </a:extLst>
          </p:cNvPr>
          <p:cNvSpPr txBox="1"/>
          <p:nvPr/>
        </p:nvSpPr>
        <p:spPr>
          <a:xfrm>
            <a:off x="286378" y="909977"/>
            <a:ext cx="4572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800" dirty="0">
                <a:solidFill>
                  <a:srgbClr val="FF0000"/>
                </a:solidFill>
              </a:rPr>
              <a:t>Denmark</a:t>
            </a:r>
            <a:endParaRPr lang="en-US" sz="3800" dirty="0">
              <a:solidFill>
                <a:srgbClr val="FF0000"/>
              </a:solidFill>
              <a:ea typeface="Calibri"/>
              <a:cs typeface="Calibri"/>
            </a:endParaRPr>
          </a:p>
          <a:p>
            <a:pPr algn="ctr"/>
            <a:endParaRPr lang="en-US" dirty="0"/>
          </a:p>
        </p:txBody>
      </p:sp>
    </p:spTree>
    <p:extLst>
      <p:ext uri="{BB962C8B-B14F-4D97-AF65-F5344CB8AC3E}">
        <p14:creationId xmlns:p14="http://schemas.microsoft.com/office/powerpoint/2010/main" val="17151835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891051" y="381935"/>
            <a:ext cx="3006438" cy="5974414"/>
          </a:xfrm>
        </p:spPr>
        <p:txBody>
          <a:bodyPr anchor="ctr">
            <a:normAutofit/>
          </a:bodyPr>
          <a:lstStyle/>
          <a:p>
            <a:r>
              <a:rPr lang="en-US" sz="3800" dirty="0">
                <a:solidFill>
                  <a:srgbClr val="FFFFFF"/>
                </a:solidFill>
              </a:rPr>
              <a:t>Collective Crying Ritual</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0420" y="554152"/>
            <a:ext cx="430632"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p:cNvSpPr>
            <a:spLocks noGrp="1"/>
          </p:cNvSpPr>
          <p:nvPr>
            <p:ph idx="1"/>
          </p:nvPr>
        </p:nvSpPr>
        <p:spPr>
          <a:xfrm>
            <a:off x="4722924" y="518400"/>
            <a:ext cx="3578706" cy="5837949"/>
          </a:xfrm>
        </p:spPr>
        <p:txBody>
          <a:bodyPr vert="horz" lIns="91440" tIns="45720" rIns="91440" bIns="45720" rtlCol="0" anchor="ctr">
            <a:normAutofit/>
          </a:bodyPr>
          <a:lstStyle/>
          <a:p>
            <a:r>
              <a:rPr lang="en-US" sz="2200" dirty="0">
                <a:solidFill>
                  <a:schemeClr val="tx1">
                    <a:alpha val="80000"/>
                  </a:schemeClr>
                </a:solidFill>
              </a:rPr>
              <a:t>Before the wedding, the bride cries with her mother and family.</a:t>
            </a:r>
          </a:p>
          <a:p>
            <a:endParaRPr lang="en-US" sz="2200" dirty="0">
              <a:solidFill>
                <a:schemeClr val="tx1">
                  <a:alpha val="80000"/>
                </a:schemeClr>
              </a:solidFill>
              <a:ea typeface="Calibri"/>
              <a:cs typeface="Calibri"/>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0E6E005-8642-1503-0F35-898DC29F70C2}"/>
              </a:ext>
            </a:extLst>
          </p:cNvPr>
          <p:cNvSpPr txBox="1"/>
          <p:nvPr/>
        </p:nvSpPr>
        <p:spPr>
          <a:xfrm>
            <a:off x="571351" y="2743200"/>
            <a:ext cx="3485179" cy="361314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28600" lvl="0" indent="-228600" defTabSz="914400">
              <a:lnSpc>
                <a:spcPct val="90000"/>
              </a:lnSpc>
              <a:spcAft>
                <a:spcPts val="600"/>
              </a:spcAft>
              <a:buFont typeface="Arial" panose="020B0604020202020204" pitchFamily="34" charset="0"/>
              <a:buChar char="•"/>
            </a:pPr>
            <a:endParaRPr lang="en-US" sz="1700" dirty="0"/>
          </a:p>
          <a:p>
            <a:pPr marL="228600" indent="-228600" defTabSz="914400">
              <a:lnSpc>
                <a:spcPct val="90000"/>
              </a:lnSpc>
              <a:spcAft>
                <a:spcPts val="600"/>
              </a:spcAft>
              <a:buFont typeface="Arial" panose="020B0604020202020204" pitchFamily="34" charset="0"/>
              <a:buChar char="•"/>
            </a:pPr>
            <a:r>
              <a:rPr lang="en-US" sz="2200" baseline="0" dirty="0"/>
              <a:t>Crying expresses happiness, gratitude, </a:t>
            </a:r>
            <a:r>
              <a:rPr lang="en-US" sz="2200" dirty="0"/>
              <a:t>and love</a:t>
            </a:r>
            <a:r>
              <a:rPr lang="en-US" sz="2200" baseline="0" dirty="0"/>
              <a:t> for the family.</a:t>
            </a:r>
            <a:r>
              <a:rPr lang="en-US" sz="2200" dirty="0"/>
              <a:t>​</a:t>
            </a:r>
          </a:p>
          <a:p>
            <a:pPr marL="228600" indent="-228600" defTabSz="914400">
              <a:lnSpc>
                <a:spcPct val="90000"/>
              </a:lnSpc>
              <a:spcAft>
                <a:spcPts val="600"/>
              </a:spcAft>
              <a:buFont typeface="Arial" panose="020B0604020202020204" pitchFamily="34" charset="0"/>
              <a:buChar char="•"/>
            </a:pPr>
            <a:r>
              <a:rPr lang="en-US" sz="2200" baseline="0" dirty="0"/>
              <a:t>It may seem strange to us, but it is </a:t>
            </a:r>
            <a:r>
              <a:rPr lang="en-US" sz="2200" dirty="0"/>
              <a:t>an important</a:t>
            </a:r>
            <a:r>
              <a:rPr lang="en-US" sz="2200" baseline="0" dirty="0"/>
              <a:t> cultural tradition.</a:t>
            </a:r>
          </a:p>
          <a:p>
            <a:pPr indent="-228600" defTabSz="914400">
              <a:lnSpc>
                <a:spcPct val="90000"/>
              </a:lnSpc>
              <a:spcAft>
                <a:spcPts val="600"/>
              </a:spcAft>
              <a:buFont typeface="Arial" panose="020B0604020202020204" pitchFamily="34" charset="0"/>
              <a:buChar char="•"/>
            </a:pPr>
            <a:endParaRPr lang="en-US" sz="1700" dirty="0"/>
          </a:p>
        </p:txBody>
      </p:sp>
      <p:pic>
        <p:nvPicPr>
          <p:cNvPr id="4" name="Picture 3" descr="A red rectangular flag with a yellow star&#10;&#10;AI-generated content may be incorrect.">
            <a:extLst>
              <a:ext uri="{FF2B5EF4-FFF2-40B4-BE49-F238E27FC236}">
                <a16:creationId xmlns:a16="http://schemas.microsoft.com/office/drawing/2014/main" id="{6D720144-3D0A-22C9-7319-BDDA80624739}"/>
              </a:ext>
            </a:extLst>
          </p:cNvPr>
          <p:cNvPicPr>
            <a:picLocks noChangeAspect="1"/>
          </p:cNvPicPr>
          <p:nvPr/>
        </p:nvPicPr>
        <p:blipFill>
          <a:blip r:embed="rId2"/>
          <a:srcRect l="3916" r="29343"/>
          <a:stretch>
            <a:fillRect/>
          </a:stretch>
        </p:blipFill>
        <p:spPr>
          <a:xfrm>
            <a:off x="4572000" y="1"/>
            <a:ext cx="4577118" cy="6858000"/>
          </a:xfrm>
          <a:prstGeom prst="rect">
            <a:avLst/>
          </a:prstGeom>
        </p:spPr>
      </p:pic>
      <p:sp>
        <p:nvSpPr>
          <p:cNvPr id="2" name="TextBox 1"/>
          <p:cNvSpPr txBox="1"/>
          <p:nvPr/>
        </p:nvSpPr>
        <p:spPr>
          <a:xfrm>
            <a:off x="802433" y="830423"/>
            <a:ext cx="2341983" cy="830997"/>
          </a:xfrm>
          <a:prstGeom prst="rect">
            <a:avLst/>
          </a:prstGeom>
          <a:noFill/>
        </p:spPr>
        <p:txBody>
          <a:bodyPr wrap="square" rtlCol="0">
            <a:spAutoFit/>
          </a:bodyPr>
          <a:lstStyle/>
          <a:p>
            <a:r>
              <a:rPr lang="en-US" sz="4800" dirty="0" smtClean="0"/>
              <a:t>China </a:t>
            </a:r>
            <a:endParaRPr lang="en-US" sz="4800" dirty="0"/>
          </a:p>
        </p:txBody>
      </p:sp>
    </p:spTree>
    <p:extLst>
      <p:ext uri="{BB962C8B-B14F-4D97-AF65-F5344CB8AC3E}">
        <p14:creationId xmlns:p14="http://schemas.microsoft.com/office/powerpoint/2010/main" val="31730213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dirty="0"/>
              <a:t>Blackening the Bride</a:t>
            </a:r>
          </a:p>
        </p:txBody>
      </p:sp>
      <p:sp>
        <p:nvSpPr>
          <p:cNvPr id="3" name="Content Placeholder 2"/>
          <p:cNvSpPr>
            <a:spLocks noGrp="1"/>
          </p:cNvSpPr>
          <p:nvPr>
            <p:ph idx="1"/>
          </p:nvPr>
        </p:nvSpPr>
        <p:spPr>
          <a:xfrm>
            <a:off x="963930" y="2969469"/>
            <a:ext cx="6056111" cy="2800395"/>
          </a:xfrm>
        </p:spPr>
        <p:txBody>
          <a:bodyPr vert="horz" lIns="91440" tIns="45720" rIns="91440" bIns="45720" rtlCol="0" anchor="t">
            <a:normAutofit/>
          </a:bodyPr>
          <a:lstStyle/>
          <a:p>
            <a:r>
              <a:rPr lang="en-US" sz="2200" dirty="0"/>
              <a:t>Friends and family throw dirty things like mud or spoiled food at the bride.</a:t>
            </a:r>
          </a:p>
          <a:p>
            <a:endParaRPr lang="en-US" sz="2100" dirty="0">
              <a:ea typeface="Calibri"/>
              <a:cs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71DC9A-0EFC-AACF-F5BC-EB4452DB03F1}"/>
              </a:ext>
            </a:extLst>
          </p:cNvPr>
          <p:cNvSpPr txBox="1"/>
          <p:nvPr/>
        </p:nvSpPr>
        <p:spPr>
          <a:xfrm>
            <a:off x="657519" y="2533476"/>
            <a:ext cx="2591866" cy="344783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28600" lvl="0" indent="-228600" defTabSz="914400">
              <a:lnSpc>
                <a:spcPct val="90000"/>
              </a:lnSpc>
              <a:spcAft>
                <a:spcPts val="600"/>
              </a:spcAft>
              <a:buFont typeface="Arial" panose="020B0604020202020204" pitchFamily="34" charset="0"/>
              <a:buChar char="•"/>
            </a:pPr>
            <a:endParaRPr lang="en-US" sz="1700" dirty="0"/>
          </a:p>
          <a:p>
            <a:pPr marL="228600" indent="-228600" defTabSz="914400">
              <a:lnSpc>
                <a:spcPct val="90000"/>
              </a:lnSpc>
              <a:spcAft>
                <a:spcPts val="600"/>
              </a:spcAft>
              <a:buFont typeface="Arial" panose="020B0604020202020204" pitchFamily="34" charset="0"/>
              <a:buChar char="•"/>
            </a:pPr>
            <a:r>
              <a:rPr lang="en-US" sz="2200" baseline="0" dirty="0"/>
              <a:t>Purpose: Prepare the bride mentally </a:t>
            </a:r>
            <a:r>
              <a:rPr lang="en-US" sz="2200" dirty="0"/>
              <a:t>for challenges</a:t>
            </a:r>
            <a:r>
              <a:rPr lang="en-US" sz="2200" baseline="0" dirty="0"/>
              <a:t> in married life.</a:t>
            </a:r>
            <a:r>
              <a:rPr lang="en-US" sz="2200" dirty="0"/>
              <a:t>​</a:t>
            </a:r>
          </a:p>
          <a:p>
            <a:pPr marL="228600" lvl="0" indent="-228600" defTabSz="914400">
              <a:lnSpc>
                <a:spcPct val="90000"/>
              </a:lnSpc>
              <a:spcAft>
                <a:spcPts val="600"/>
              </a:spcAft>
              <a:buFont typeface="Arial" panose="020B0604020202020204" pitchFamily="34" charset="0"/>
              <a:buChar char="•"/>
            </a:pPr>
            <a:r>
              <a:rPr lang="en-US" sz="2200" baseline="0" dirty="0"/>
              <a:t>It may seem strange, but it helps </a:t>
            </a:r>
            <a:r>
              <a:rPr lang="en-US" sz="2200" baseline="0" dirty="0" err="1"/>
              <a:t>buildstrength</a:t>
            </a:r>
            <a:r>
              <a:rPr lang="en-US" sz="2200" baseline="0" dirty="0"/>
              <a:t> and resilience.</a:t>
            </a:r>
          </a:p>
          <a:p>
            <a:pPr indent="-228600" defTabSz="914400">
              <a:lnSpc>
                <a:spcPct val="90000"/>
              </a:lnSpc>
              <a:spcAft>
                <a:spcPts val="600"/>
              </a:spcAft>
              <a:buFont typeface="Arial" panose="020B0604020202020204" pitchFamily="34" charset="0"/>
              <a:buChar char="•"/>
            </a:pPr>
            <a:endParaRPr lang="en-US" sz="2200" dirty="0"/>
          </a:p>
        </p:txBody>
      </p:sp>
      <p:pic>
        <p:nvPicPr>
          <p:cNvPr id="3" name="Picture 2" descr="A blue and white flag&#10;&#10;AI-generated content may be incorrect.">
            <a:extLst>
              <a:ext uri="{FF2B5EF4-FFF2-40B4-BE49-F238E27FC236}">
                <a16:creationId xmlns:a16="http://schemas.microsoft.com/office/drawing/2014/main" id="{49B017A2-2C87-8B59-6B88-1441A540E10A}"/>
              </a:ext>
            </a:extLst>
          </p:cNvPr>
          <p:cNvPicPr>
            <a:picLocks noChangeAspect="1"/>
          </p:cNvPicPr>
          <p:nvPr/>
        </p:nvPicPr>
        <p:blipFill>
          <a:blip r:embed="rId2"/>
          <a:stretch>
            <a:fillRect/>
          </a:stretch>
        </p:blipFill>
        <p:spPr>
          <a:xfrm>
            <a:off x="3740754" y="1996052"/>
            <a:ext cx="4792009" cy="2875205"/>
          </a:xfrm>
          <a:prstGeom prst="rect">
            <a:avLst/>
          </a:prstGeom>
        </p:spPr>
      </p:pic>
      <p:grpSp>
        <p:nvGrpSpPr>
          <p:cNvPr id="8" name="Group 7">
            <a:extLst>
              <a:ext uri="{FF2B5EF4-FFF2-40B4-BE49-F238E27FC236}">
                <a16:creationId xmlns:a16="http://schemas.microsoft.com/office/drawing/2014/main" id="{6258F736-B256-8039-9DC6-F4E49A5C5AD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9" name="Rectangle 8">
              <a:extLst>
                <a:ext uri="{FF2B5EF4-FFF2-40B4-BE49-F238E27FC236}">
                  <a16:creationId xmlns:a16="http://schemas.microsoft.com/office/drawing/2014/main" id="{10B4520A-996E-330C-99DA-69CA4D89E90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C8FA945-E356-695F-18D6-CAD4EF34FE4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p:cNvSpPr txBox="1"/>
          <p:nvPr/>
        </p:nvSpPr>
        <p:spPr>
          <a:xfrm>
            <a:off x="802433" y="830423"/>
            <a:ext cx="2341983" cy="830997"/>
          </a:xfrm>
          <a:prstGeom prst="rect">
            <a:avLst/>
          </a:prstGeom>
          <a:noFill/>
        </p:spPr>
        <p:txBody>
          <a:bodyPr wrap="square" rtlCol="0">
            <a:spAutoFit/>
          </a:bodyPr>
          <a:lstStyle/>
          <a:p>
            <a:r>
              <a:rPr lang="en-US" sz="4800" dirty="0" smtClean="0"/>
              <a:t>Scotland  </a:t>
            </a:r>
            <a:endParaRPr lang="en-US" sz="4800" dirty="0"/>
          </a:p>
        </p:txBody>
      </p:sp>
    </p:spTree>
    <p:extLst>
      <p:ext uri="{BB962C8B-B14F-4D97-AF65-F5344CB8AC3E}">
        <p14:creationId xmlns:p14="http://schemas.microsoft.com/office/powerpoint/2010/main" val="24278444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Conclusion</a:t>
            </a:r>
          </a:p>
        </p:txBody>
      </p:sp>
      <p:sp>
        <p:nvSpPr>
          <p:cNvPr id="3" name="Content Placeholder 2"/>
          <p:cNvSpPr>
            <a:spLocks noGrp="1"/>
          </p:cNvSpPr>
          <p:nvPr>
            <p:ph idx="1"/>
          </p:nvPr>
        </p:nvSpPr>
        <p:spPr>
          <a:xfrm>
            <a:off x="571351" y="2743200"/>
            <a:ext cx="3485179" cy="3613149"/>
          </a:xfrm>
        </p:spPr>
        <p:txBody>
          <a:bodyPr vert="horz" lIns="91440" tIns="45720" rIns="91440" bIns="45720" rtlCol="0" anchor="ctr">
            <a:normAutofit/>
          </a:bodyPr>
          <a:lstStyle/>
          <a:p>
            <a:r>
              <a:rPr lang="en-US" sz="2200" dirty="0"/>
              <a:t>Wedding traditions reflect cultural values and beliefs.</a:t>
            </a:r>
          </a:p>
          <a:p>
            <a:r>
              <a:rPr lang="en-US" sz="2200" dirty="0"/>
              <a:t>Some traditions may seem strange, but they have deep meanings.</a:t>
            </a:r>
            <a:endParaRPr lang="en-US" sz="2200" dirty="0">
              <a:ea typeface="Calibri"/>
              <a:cs typeface="Calibri"/>
            </a:endParaRPr>
          </a:p>
          <a:p>
            <a:r>
              <a:rPr lang="en-US" sz="2200" dirty="0"/>
              <a:t>These traditions bring fun, strength, and emotional connection.</a:t>
            </a:r>
            <a:endParaRPr lang="en-US" sz="2200" dirty="0">
              <a:ea typeface="Calibri"/>
              <a:cs typeface="Calibri"/>
            </a:endParaRPr>
          </a:p>
          <a:p>
            <a:endParaRPr lang="en-US" sz="2200" dirty="0">
              <a:ea typeface="Calibri"/>
              <a:cs typeface="Calibri"/>
            </a:endParaRPr>
          </a:p>
        </p:txBody>
      </p:sp>
      <p:pic>
        <p:nvPicPr>
          <p:cNvPr id="5" name="Picture 4" descr="An oil lamp carried by a woman in her hands">
            <a:extLst>
              <a:ext uri="{FF2B5EF4-FFF2-40B4-BE49-F238E27FC236}">
                <a16:creationId xmlns:a16="http://schemas.microsoft.com/office/drawing/2014/main" id="{9AD29CBF-4967-6E4C-AE97-F4AB7B7A0E02}"/>
              </a:ext>
            </a:extLst>
          </p:cNvPr>
          <p:cNvPicPr>
            <a:picLocks noChangeAspect="1"/>
          </p:cNvPicPr>
          <p:nvPr/>
        </p:nvPicPr>
        <p:blipFill>
          <a:blip r:embed="rId2"/>
          <a:srcRect l="24011" r="26423" b="3"/>
          <a:stretch>
            <a:fillRect/>
          </a:stretch>
        </p:blipFill>
        <p:spPr>
          <a:xfrm>
            <a:off x="4572000" y="1"/>
            <a:ext cx="4577118" cy="68580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2E7CC5-C78B-4EBD-9565-3FA00FAA6CF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Smiling Face with No Fill">
            <a:extLst>
              <a:ext uri="{FF2B5EF4-FFF2-40B4-BE49-F238E27FC236}">
                <a16:creationId xmlns:a16="http://schemas.microsoft.com/office/drawing/2014/main" id="{A649B43E-3B9B-E142-77B4-52BB08A996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573741" y="2165637"/>
            <a:ext cx="2526726" cy="2526726"/>
          </a:xfrm>
          <a:prstGeom prst="rect">
            <a:avLst/>
          </a:prstGeom>
        </p:spPr>
      </p:pic>
      <p:sp>
        <p:nvSpPr>
          <p:cNvPr id="23" name="Freeform: Shape 22">
            <a:extLst>
              <a:ext uri="{FF2B5EF4-FFF2-40B4-BE49-F238E27FC236}">
                <a16:creationId xmlns:a16="http://schemas.microsoft.com/office/drawing/2014/main" id="{3A4529A5-F675-429F-8044-01372BB1342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2494" y="0"/>
            <a:ext cx="5671506"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extBox 1">
            <a:extLst>
              <a:ext uri="{FF2B5EF4-FFF2-40B4-BE49-F238E27FC236}">
                <a16:creationId xmlns:a16="http://schemas.microsoft.com/office/drawing/2014/main" id="{1EE88641-3655-940E-A565-5044DD021259}"/>
              </a:ext>
            </a:extLst>
          </p:cNvPr>
          <p:cNvSpPr txBox="1"/>
          <p:nvPr/>
        </p:nvSpPr>
        <p:spPr>
          <a:xfrm>
            <a:off x="4216545" y="762538"/>
            <a:ext cx="4237012" cy="3199862"/>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914400">
              <a:lnSpc>
                <a:spcPct val="90000"/>
              </a:lnSpc>
              <a:spcBef>
                <a:spcPct val="0"/>
              </a:spcBef>
              <a:spcAft>
                <a:spcPts val="600"/>
              </a:spcAft>
            </a:pPr>
            <a:r>
              <a:rPr lang="en-US" sz="5700" kern="1200" baseline="0">
                <a:solidFill>
                  <a:srgbClr val="FFFFFF"/>
                </a:solidFill>
                <a:latin typeface="+mj-lt"/>
                <a:ea typeface="+mj-ea"/>
                <a:cs typeface="+mj-cs"/>
              </a:rPr>
              <a:t>Thank you </a:t>
            </a:r>
            <a:endParaRPr lang="en-US" sz="5700" kern="1200">
              <a:solidFill>
                <a:srgbClr val="FFFFFF"/>
              </a:solidFill>
              <a:latin typeface="+mj-lt"/>
              <a:ea typeface="+mj-ea"/>
              <a:cs typeface="+mj-cs"/>
            </a:endParaRPr>
          </a:p>
          <a:p>
            <a:pPr defTabSz="914400">
              <a:lnSpc>
                <a:spcPct val="90000"/>
              </a:lnSpc>
              <a:spcBef>
                <a:spcPct val="0"/>
              </a:spcBef>
              <a:spcAft>
                <a:spcPts val="600"/>
              </a:spcAft>
            </a:pPr>
            <a:endParaRPr lang="en-US" sz="5700" kern="1200">
              <a:solidFill>
                <a:srgbClr val="FFFFFF"/>
              </a:solidFill>
              <a:latin typeface="+mj-lt"/>
              <a:ea typeface="+mj-ea"/>
              <a:cs typeface="+mj-cs"/>
            </a:endParaRPr>
          </a:p>
        </p:txBody>
      </p:sp>
      <p:sp>
        <p:nvSpPr>
          <p:cNvPr id="24" name="sketch line">
            <a:extLst>
              <a:ext uri="{FF2B5EF4-FFF2-40B4-BE49-F238E27FC236}">
                <a16:creationId xmlns:a16="http://schemas.microsoft.com/office/drawing/2014/main" id="{63DAB858-5A0C-4AFF-AAC6-705EDF8DB73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8261" y="4043302"/>
            <a:ext cx="3977640" cy="18288"/>
          </a:xfrm>
          <a:custGeom>
            <a:avLst/>
            <a:gdLst>
              <a:gd name="csX0" fmla="*/ 0 w 3977640"/>
              <a:gd name="csY0" fmla="*/ 0 h 18288"/>
              <a:gd name="csX1" fmla="*/ 742493 w 3977640"/>
              <a:gd name="csY1" fmla="*/ 0 h 18288"/>
              <a:gd name="csX2" fmla="*/ 1445209 w 3977640"/>
              <a:gd name="csY2" fmla="*/ 0 h 18288"/>
              <a:gd name="csX3" fmla="*/ 2147926 w 3977640"/>
              <a:gd name="csY3" fmla="*/ 0 h 18288"/>
              <a:gd name="csX4" fmla="*/ 2691536 w 3977640"/>
              <a:gd name="csY4" fmla="*/ 0 h 18288"/>
              <a:gd name="csX5" fmla="*/ 3274924 w 3977640"/>
              <a:gd name="csY5" fmla="*/ 0 h 18288"/>
              <a:gd name="csX6" fmla="*/ 3977640 w 3977640"/>
              <a:gd name="csY6" fmla="*/ 0 h 18288"/>
              <a:gd name="csX7" fmla="*/ 3977640 w 3977640"/>
              <a:gd name="csY7" fmla="*/ 18288 h 18288"/>
              <a:gd name="csX8" fmla="*/ 3314700 w 3977640"/>
              <a:gd name="csY8" fmla="*/ 18288 h 18288"/>
              <a:gd name="csX9" fmla="*/ 2771089 w 3977640"/>
              <a:gd name="csY9" fmla="*/ 18288 h 18288"/>
              <a:gd name="csX10" fmla="*/ 2227478 w 3977640"/>
              <a:gd name="csY10" fmla="*/ 18288 h 18288"/>
              <a:gd name="csX11" fmla="*/ 1524762 w 3977640"/>
              <a:gd name="csY11" fmla="*/ 18288 h 18288"/>
              <a:gd name="csX12" fmla="*/ 941375 w 3977640"/>
              <a:gd name="csY12" fmla="*/ 18288 h 18288"/>
              <a:gd name="csX13" fmla="*/ 0 w 3977640"/>
              <a:gd name="csY13" fmla="*/ 18288 h 18288"/>
              <a:gd name="csX14" fmla="*/ 0 w 397764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977640" h="18288" fill="none" extrusionOk="0">
                <a:moveTo>
                  <a:pt x="0" y="0"/>
                </a:moveTo>
                <a:cubicBezTo>
                  <a:pt x="362724" y="-2785"/>
                  <a:pt x="438784" y="-35866"/>
                  <a:pt x="742493" y="0"/>
                </a:cubicBezTo>
                <a:cubicBezTo>
                  <a:pt x="1046202" y="35866"/>
                  <a:pt x="1214361" y="6330"/>
                  <a:pt x="1445209" y="0"/>
                </a:cubicBezTo>
                <a:cubicBezTo>
                  <a:pt x="1676057" y="-6330"/>
                  <a:pt x="1906372" y="-3266"/>
                  <a:pt x="2147926" y="0"/>
                </a:cubicBezTo>
                <a:cubicBezTo>
                  <a:pt x="2389480" y="3266"/>
                  <a:pt x="2520714" y="16824"/>
                  <a:pt x="2691536" y="0"/>
                </a:cubicBezTo>
                <a:cubicBezTo>
                  <a:pt x="2862358" y="-16824"/>
                  <a:pt x="3036508" y="-14038"/>
                  <a:pt x="3274924" y="0"/>
                </a:cubicBezTo>
                <a:cubicBezTo>
                  <a:pt x="3513340" y="14038"/>
                  <a:pt x="3634141" y="-18809"/>
                  <a:pt x="3977640" y="0"/>
                </a:cubicBezTo>
                <a:cubicBezTo>
                  <a:pt x="3977140" y="8855"/>
                  <a:pt x="3977749" y="14521"/>
                  <a:pt x="3977640" y="18288"/>
                </a:cubicBezTo>
                <a:cubicBezTo>
                  <a:pt x="3757007" y="32029"/>
                  <a:pt x="3469003" y="-5112"/>
                  <a:pt x="3314700" y="18288"/>
                </a:cubicBezTo>
                <a:cubicBezTo>
                  <a:pt x="3160397" y="41688"/>
                  <a:pt x="2914663" y="19512"/>
                  <a:pt x="2771089" y="18288"/>
                </a:cubicBezTo>
                <a:cubicBezTo>
                  <a:pt x="2627515" y="17064"/>
                  <a:pt x="2417576" y="42034"/>
                  <a:pt x="2227478" y="18288"/>
                </a:cubicBezTo>
                <a:cubicBezTo>
                  <a:pt x="2037380" y="-5458"/>
                  <a:pt x="1775246" y="-2032"/>
                  <a:pt x="1524762" y="18288"/>
                </a:cubicBezTo>
                <a:cubicBezTo>
                  <a:pt x="1274278" y="38608"/>
                  <a:pt x="1225405" y="46940"/>
                  <a:pt x="941375" y="18288"/>
                </a:cubicBezTo>
                <a:cubicBezTo>
                  <a:pt x="657345" y="-10364"/>
                  <a:pt x="468340" y="57851"/>
                  <a:pt x="0" y="18288"/>
                </a:cubicBezTo>
                <a:cubicBezTo>
                  <a:pt x="683" y="12014"/>
                  <a:pt x="724" y="5908"/>
                  <a:pt x="0" y="0"/>
                </a:cubicBezTo>
                <a:close/>
              </a:path>
              <a:path w="3977640" h="18288" stroke="0" extrusionOk="0">
                <a:moveTo>
                  <a:pt x="0" y="0"/>
                </a:moveTo>
                <a:cubicBezTo>
                  <a:pt x="167643" y="7540"/>
                  <a:pt x="416663" y="12011"/>
                  <a:pt x="623164" y="0"/>
                </a:cubicBezTo>
                <a:cubicBezTo>
                  <a:pt x="829665" y="-12011"/>
                  <a:pt x="908844" y="7531"/>
                  <a:pt x="1166774" y="0"/>
                </a:cubicBezTo>
                <a:cubicBezTo>
                  <a:pt x="1424704" y="-7531"/>
                  <a:pt x="1745729" y="22552"/>
                  <a:pt x="1909267" y="0"/>
                </a:cubicBezTo>
                <a:cubicBezTo>
                  <a:pt x="2072805" y="-22552"/>
                  <a:pt x="2313264" y="2550"/>
                  <a:pt x="2532431" y="0"/>
                </a:cubicBezTo>
                <a:cubicBezTo>
                  <a:pt x="2751598" y="-2550"/>
                  <a:pt x="2914229" y="-1772"/>
                  <a:pt x="3155594" y="0"/>
                </a:cubicBezTo>
                <a:cubicBezTo>
                  <a:pt x="3396959" y="1772"/>
                  <a:pt x="3603015" y="-38331"/>
                  <a:pt x="3977640" y="0"/>
                </a:cubicBezTo>
                <a:cubicBezTo>
                  <a:pt x="3976742" y="7180"/>
                  <a:pt x="3977809" y="13790"/>
                  <a:pt x="3977640" y="18288"/>
                </a:cubicBezTo>
                <a:cubicBezTo>
                  <a:pt x="3733612" y="44026"/>
                  <a:pt x="3504694" y="34704"/>
                  <a:pt x="3314700" y="18288"/>
                </a:cubicBezTo>
                <a:cubicBezTo>
                  <a:pt x="3124706" y="1872"/>
                  <a:pt x="2970848" y="41228"/>
                  <a:pt x="2771089" y="18288"/>
                </a:cubicBezTo>
                <a:cubicBezTo>
                  <a:pt x="2571330" y="-4652"/>
                  <a:pt x="2374617" y="32581"/>
                  <a:pt x="2108149" y="18288"/>
                </a:cubicBezTo>
                <a:cubicBezTo>
                  <a:pt x="1841681" y="3995"/>
                  <a:pt x="1730147" y="-7187"/>
                  <a:pt x="1445209" y="18288"/>
                </a:cubicBezTo>
                <a:cubicBezTo>
                  <a:pt x="1160271" y="43763"/>
                  <a:pt x="1128446" y="30981"/>
                  <a:pt x="822046" y="18288"/>
                </a:cubicBezTo>
                <a:cubicBezTo>
                  <a:pt x="515646" y="5595"/>
                  <a:pt x="401539" y="48208"/>
                  <a:pt x="0" y="18288"/>
                </a:cubicBezTo>
                <a:cubicBezTo>
                  <a:pt x="571" y="10093"/>
                  <a:pt x="-125" y="8407"/>
                  <a:pt x="0" y="0"/>
                </a:cubicBezTo>
                <a:close/>
              </a:path>
            </a:pathLst>
          </a:custGeom>
          <a:solidFill>
            <a:srgbClr val="FFFFFF"/>
          </a:solidFill>
          <a:ln w="41275" cap="rnd">
            <a:solidFill>
              <a:srgbClr val="FFFFFF"/>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512221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818</Words>
  <Application>Microsoft Office PowerPoint</Application>
  <PresentationFormat>On-screen Show (4:3)</PresentationFormat>
  <Paragraphs>68</Paragraphs>
  <Slides>24</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Arial</vt:lpstr>
      <vt:lpstr>Calibri</vt:lpstr>
      <vt:lpstr>Calibri Light</vt:lpstr>
      <vt:lpstr>Century Gothic</vt:lpstr>
      <vt:lpstr>Wingdings</vt:lpstr>
      <vt:lpstr>Wingdings 3</vt:lpstr>
      <vt:lpstr>Office Theme</vt:lpstr>
      <vt:lpstr>Ion Boardroom</vt:lpstr>
      <vt:lpstr>1_Office Theme</vt:lpstr>
      <vt:lpstr> Strange Wedding Traditions</vt:lpstr>
      <vt:lpstr>PowerPoint Presentation</vt:lpstr>
      <vt:lpstr>PowerPoint Presentation</vt:lpstr>
      <vt:lpstr>PowerPoint Presentation</vt:lpstr>
      <vt:lpstr>PowerPoint Presentation</vt:lpstr>
      <vt:lpstr>PowerPoint Presentation</vt:lpstr>
      <vt:lpstr>PowerPoint Presentation</vt:lpstr>
      <vt:lpstr>Malaysia &amp; Indonesia – Bathroom Ban Tradition</vt:lpstr>
      <vt:lpstr> Australia – Marriage by Chance </vt:lpstr>
      <vt:lpstr> South India – The Groom’s Pain Test </vt:lpstr>
      <vt:lpstr>India (Tamil Brahmin) – The Groom Changes His Mind</vt:lpstr>
      <vt:lpstr>Sudan – The Falling Dance Test </vt:lpstr>
      <vt:lpstr> Congo – No Smiling at the Wedding </vt:lpstr>
      <vt:lpstr>China – Seeing the Bride for the First Time</vt:lpstr>
      <vt:lpstr> Bride Kidnapping Tradition</vt:lpstr>
      <vt:lpstr>PowerPoint Presentation</vt:lpstr>
      <vt:lpstr> Breaking Plates Tradition</vt:lpstr>
      <vt:lpstr>PowerPoint Presentation</vt:lpstr>
      <vt:lpstr>Collective Crying Ritual</vt:lpstr>
      <vt:lpstr>PowerPoint Presentation</vt:lpstr>
      <vt:lpstr>Blackening the Bride</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Strange Wedding Traditions</dc:title>
  <dc:subject/>
  <dc:creator/>
  <cp:keywords/>
  <dc:description>generated using python-pptx</dc:description>
  <cp:lastModifiedBy>USER</cp:lastModifiedBy>
  <cp:revision>126</cp:revision>
  <dcterms:created xsi:type="dcterms:W3CDTF">2013-01-27T09:14:16Z</dcterms:created>
  <dcterms:modified xsi:type="dcterms:W3CDTF">2026-02-15T07:28:35Z</dcterms:modified>
  <cp:category/>
</cp:coreProperties>
</file>